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6"/>
  </p:notesMasterIdLst>
  <p:sldIdLst>
    <p:sldId id="256" r:id="rId2"/>
    <p:sldId id="368" r:id="rId3"/>
    <p:sldId id="260" r:id="rId4"/>
    <p:sldId id="268" r:id="rId5"/>
    <p:sldId id="258" r:id="rId6"/>
    <p:sldId id="284" r:id="rId7"/>
    <p:sldId id="282" r:id="rId8"/>
    <p:sldId id="269" r:id="rId9"/>
    <p:sldId id="261" r:id="rId10"/>
    <p:sldId id="263" r:id="rId11"/>
    <p:sldId id="264" r:id="rId12"/>
    <p:sldId id="270" r:id="rId13"/>
    <p:sldId id="273" r:id="rId14"/>
    <p:sldId id="274" r:id="rId15"/>
    <p:sldId id="275" r:id="rId16"/>
    <p:sldId id="276" r:id="rId17"/>
    <p:sldId id="401" r:id="rId18"/>
    <p:sldId id="277" r:id="rId19"/>
    <p:sldId id="278" r:id="rId20"/>
    <p:sldId id="279" r:id="rId21"/>
    <p:sldId id="280" r:id="rId22"/>
    <p:sldId id="281" r:id="rId23"/>
    <p:sldId id="286" r:id="rId24"/>
    <p:sldId id="287" r:id="rId25"/>
    <p:sldId id="288" r:id="rId26"/>
    <p:sldId id="290" r:id="rId27"/>
    <p:sldId id="291" r:id="rId28"/>
    <p:sldId id="289" r:id="rId29"/>
    <p:sldId id="402" r:id="rId30"/>
    <p:sldId id="403" r:id="rId31"/>
    <p:sldId id="266" r:id="rId32"/>
    <p:sldId id="400" r:id="rId33"/>
    <p:sldId id="285" r:id="rId34"/>
    <p:sldId id="267" r:id="rId35"/>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8" y="6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425132-AF25-4FE3-84B8-7C7802FA004D}" type="datetimeFigureOut">
              <a:rPr lang="en-US" smtClean="0"/>
              <a:pPr/>
              <a:t>5/2/2025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7EDC57-975E-45E4-BAF9-3B7433462192}" type="slidenum">
              <a:rPr lang="en-IN" smtClean="0"/>
              <a:pPr/>
              <a:t>‹#›</a:t>
            </a:fld>
            <a:endParaRPr lang="en-IN"/>
          </a:p>
        </p:txBody>
      </p:sp>
    </p:spTree>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5" name="Footer Placeholder 4"/>
          <p:cNvSpPr>
            <a:spLocks noGrp="1"/>
          </p:cNvSpPr>
          <p:nvPr>
            <p:ph type="ftr" sz="quarter" idx="10"/>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FB9A0-29AF-47DD-9689-6D05F63730EF}"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3FB9A0-29AF-47DD-9689-6D05F63730EF}"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Logo"/>
          <p:cNvPicPr>
            <a:picLocks noChangeAspect="1" noChangeArrowheads="1"/>
          </p:cNvPicPr>
          <p:nvPr/>
        </p:nvPicPr>
        <p:blipFill>
          <a:blip r:embed="rId3"/>
          <a:srcRect/>
          <a:stretch>
            <a:fillRect/>
          </a:stretch>
        </p:blipFill>
        <p:spPr bwMode="auto">
          <a:xfrm>
            <a:off x="6858016" y="0"/>
            <a:ext cx="2285984" cy="685799"/>
          </a:xfrm>
          <a:prstGeom prst="rect">
            <a:avLst/>
          </a:prstGeom>
          <a:noFill/>
          <a:ln w="9525">
            <a:noFill/>
            <a:miter lim="800000"/>
            <a:headEnd/>
            <a:tailEnd/>
          </a:ln>
        </p:spPr>
      </p:pic>
      <p:sp>
        <p:nvSpPr>
          <p:cNvPr id="3" name="Rectangle 2"/>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11" name="Rectangle 10"/>
          <p:cNvSpPr/>
          <p:nvPr/>
        </p:nvSpPr>
        <p:spPr>
          <a:xfrm>
            <a:off x="-16050" y="898609"/>
            <a:ext cx="9176100" cy="5528886"/>
          </a:xfrm>
          <a:prstGeom prst="rect">
            <a:avLst/>
          </a:prstGeom>
        </p:spPr>
        <p:txBody>
          <a:bodyPr wrap="square">
            <a:spAutoFit/>
          </a:bodyPr>
          <a:lstStyle/>
          <a:p>
            <a:pPr algn="ctr">
              <a:lnSpc>
                <a:spcPct val="150000"/>
              </a:lnSpc>
              <a:defRPr/>
            </a:pPr>
            <a:r>
              <a:rPr lang="en-IN" sz="2400" b="1" kern="0" dirty="0">
                <a:solidFill>
                  <a:srgbClr val="C00000"/>
                </a:solidFill>
                <a:latin typeface="+mj-lt"/>
                <a:ea typeface="Calibri" panose="020F0502020204030204" pitchFamily="34" charset="0"/>
              </a:rPr>
              <a:t>HONEYPOT – AN INTRUSION DETECTION &amp; </a:t>
            </a:r>
          </a:p>
          <a:p>
            <a:pPr algn="ctr">
              <a:lnSpc>
                <a:spcPct val="150000"/>
              </a:lnSpc>
              <a:defRPr/>
            </a:pPr>
            <a:r>
              <a:rPr lang="en-IN" sz="2400" b="1" kern="0" dirty="0">
                <a:solidFill>
                  <a:srgbClr val="C00000"/>
                </a:solidFill>
                <a:latin typeface="+mj-lt"/>
                <a:ea typeface="Calibri" panose="020F0502020204030204" pitchFamily="34" charset="0"/>
              </a:rPr>
              <a:t>DEFLECTION SYSTEM</a:t>
            </a:r>
            <a:endParaRPr lang="en-IN" b="1" kern="0" dirty="0">
              <a:latin typeface="+mj-lt"/>
              <a:ea typeface="Calibri" panose="020F0502020204030204" pitchFamily="34" charset="0"/>
            </a:endParaRPr>
          </a:p>
          <a:p>
            <a:pPr algn="ctr">
              <a:lnSpc>
                <a:spcPct val="150000"/>
              </a:lnSpc>
              <a:defRPr/>
            </a:pPr>
            <a:endParaRPr lang="en-IN" sz="1800" b="1" kern="0" dirty="0">
              <a:effectLst/>
              <a:latin typeface="+mj-lt"/>
              <a:ea typeface="Calibri" panose="020F0502020204030204" pitchFamily="34" charset="0"/>
            </a:endParaRPr>
          </a:p>
          <a:p>
            <a:pPr algn="ctr">
              <a:lnSpc>
                <a:spcPct val="150000"/>
              </a:lnSpc>
              <a:defRPr/>
            </a:pPr>
            <a:r>
              <a:rPr lang="en-IN" sz="1800" b="1" kern="0" dirty="0">
                <a:effectLst/>
                <a:latin typeface="+mj-lt"/>
                <a:ea typeface="Calibri" panose="020F0502020204030204" pitchFamily="34" charset="0"/>
              </a:rPr>
              <a:t>A </a:t>
            </a:r>
            <a:r>
              <a:rPr lang="en-IN" b="1" kern="0" dirty="0">
                <a:latin typeface="+mj-lt"/>
                <a:ea typeface="Calibri" panose="020F0502020204030204" pitchFamily="34" charset="0"/>
              </a:rPr>
              <a:t>PRESENTATION DONE </a:t>
            </a:r>
            <a:r>
              <a:rPr lang="en-IN" sz="1800" b="1" kern="0" dirty="0">
                <a:effectLst/>
                <a:latin typeface="+mj-lt"/>
                <a:ea typeface="Calibri" panose="020F0502020204030204" pitchFamily="34" charset="0"/>
              </a:rPr>
              <a:t> BY</a:t>
            </a:r>
            <a:endParaRPr lang="en-US" sz="1600" b="1" dirty="0">
              <a:solidFill>
                <a:srgbClr val="FF0000"/>
              </a:solidFill>
              <a:latin typeface="+mj-lt"/>
              <a:cs typeface="Arial" pitchFamily="34" charset="0"/>
            </a:endParaRPr>
          </a:p>
          <a:p>
            <a:pPr algn="ctr">
              <a:lnSpc>
                <a:spcPct val="150000"/>
              </a:lnSpc>
              <a:defRPr/>
            </a:pPr>
            <a:r>
              <a:rPr lang="en-US" sz="2400" b="1" dirty="0">
                <a:solidFill>
                  <a:schemeClr val="tx2">
                    <a:lumMod val="50000"/>
                  </a:schemeClr>
                </a:solidFill>
              </a:rPr>
              <a:t>NAVEEN KUMAR.S</a:t>
            </a:r>
          </a:p>
          <a:p>
            <a:pPr algn="ctr">
              <a:lnSpc>
                <a:spcPct val="150000"/>
              </a:lnSpc>
            </a:pPr>
            <a:r>
              <a:rPr lang="en-US" sz="2400" b="1" dirty="0">
                <a:solidFill>
                  <a:schemeClr val="tx2">
                    <a:lumMod val="50000"/>
                  </a:schemeClr>
                </a:solidFill>
              </a:rPr>
              <a:t>230282601086</a:t>
            </a:r>
          </a:p>
          <a:p>
            <a:pPr algn="ctr">
              <a:lnSpc>
                <a:spcPct val="150000"/>
              </a:lnSpc>
            </a:pPr>
            <a:r>
              <a:rPr lang="en-US" sz="1600" b="1" dirty="0">
                <a:solidFill>
                  <a:schemeClr val="tx1">
                    <a:lumMod val="85000"/>
                    <a:lumOff val="15000"/>
                  </a:schemeClr>
                </a:solidFill>
                <a:latin typeface="+mj-lt"/>
                <a:cs typeface="Arial" panose="020B0604020202020204" pitchFamily="34" charset="0"/>
              </a:rPr>
              <a:t>UNDER THE GUIDANCE OF</a:t>
            </a:r>
            <a:endParaRPr lang="en-US" sz="1600" b="1" dirty="0">
              <a:solidFill>
                <a:schemeClr val="tx2">
                  <a:lumMod val="50000"/>
                </a:schemeClr>
              </a:solidFill>
            </a:endParaRPr>
          </a:p>
          <a:p>
            <a:pPr algn="ctr">
              <a:lnSpc>
                <a:spcPct val="150000"/>
              </a:lnSpc>
            </a:pPr>
            <a:r>
              <a:rPr lang="en-US" sz="2400" b="1" dirty="0">
                <a:solidFill>
                  <a:schemeClr val="tx2">
                    <a:lumMod val="50000"/>
                  </a:schemeClr>
                </a:solidFill>
              </a:rPr>
              <a:t>Mrs. T. PANDIYAVATHI</a:t>
            </a:r>
          </a:p>
          <a:p>
            <a:pPr algn="ctr">
              <a:lnSpc>
                <a:spcPct val="150000"/>
              </a:lnSpc>
            </a:pPr>
            <a:r>
              <a:rPr lang="en-US" b="1" dirty="0"/>
              <a:t>ASSISTANT PROFESSOR(Senior Grade)</a:t>
            </a:r>
            <a:endParaRPr lang="en-US" sz="1600" b="1" dirty="0"/>
          </a:p>
          <a:p>
            <a:pPr algn="ctr">
              <a:lnSpc>
                <a:spcPct val="150000"/>
              </a:lnSpc>
            </a:pPr>
            <a:r>
              <a:rPr lang="en-US" sz="2400" b="1" dirty="0">
                <a:solidFill>
                  <a:schemeClr val="tx1">
                    <a:lumMod val="85000"/>
                    <a:lumOff val="15000"/>
                  </a:schemeClr>
                </a:solidFill>
                <a:latin typeface="+mj-lt"/>
                <a:cs typeface="Arial" panose="020B0604020202020204" pitchFamily="34" charset="0"/>
              </a:rPr>
              <a:t>MASTER OF COMPUTER APPLICATION (2025)</a:t>
            </a:r>
          </a:p>
          <a:p>
            <a:pPr algn="ctr">
              <a:lnSpc>
                <a:spcPct val="150000"/>
              </a:lnSpc>
            </a:pPr>
            <a:endParaRPr lang="en-US" sz="2400" b="1" dirty="0">
              <a:solidFill>
                <a:schemeClr val="tx2">
                  <a:lumMod val="50000"/>
                </a:schemeClr>
              </a:solidFill>
            </a:endParaRPr>
          </a:p>
        </p:txBody>
      </p:sp>
      <p:sp>
        <p:nvSpPr>
          <p:cNvPr id="12" name="TextBox 11"/>
          <p:cNvSpPr txBox="1"/>
          <p:nvPr/>
        </p:nvSpPr>
        <p:spPr>
          <a:xfrm>
            <a:off x="-32100" y="6395459"/>
            <a:ext cx="4419095" cy="369332"/>
          </a:xfrm>
          <a:prstGeom prst="rect">
            <a:avLst/>
          </a:prstGeom>
          <a:noFill/>
        </p:spPr>
        <p:txBody>
          <a:bodyPr wrap="none" rtlCol="0">
            <a:spAutoFit/>
          </a:bodyPr>
          <a:lstStyle/>
          <a:p>
            <a:r>
              <a:rPr lang="en-IN" b="1" dirty="0"/>
              <a:t>DEPARTMENT OF COMPUTER APPLICATIONS</a:t>
            </a:r>
          </a:p>
        </p:txBody>
      </p:sp>
      <p:pic>
        <p:nvPicPr>
          <p:cNvPr id="6" name="Picture 5">
            <a:extLst>
              <a:ext uri="{FF2B5EF4-FFF2-40B4-BE49-F238E27FC236}">
                <a16:creationId xmlns:a16="http://schemas.microsoft.com/office/drawing/2014/main" id="{52FF0EC7-1BF1-6028-E791-EDB007DF9B2D}"/>
              </a:ext>
            </a:extLst>
          </p:cNvPr>
          <p:cNvPicPr>
            <a:picLocks noChangeAspect="1"/>
          </p:cNvPicPr>
          <p:nvPr/>
        </p:nvPicPr>
        <p:blipFill>
          <a:blip r:embed="rId4"/>
          <a:stretch>
            <a:fillRect/>
          </a:stretch>
        </p:blipFill>
        <p:spPr>
          <a:xfrm>
            <a:off x="179512" y="55744"/>
            <a:ext cx="667896" cy="5921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Logo"/>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p:cNvSpPr txBox="1"/>
          <p:nvPr/>
        </p:nvSpPr>
        <p:spPr>
          <a:xfrm>
            <a:off x="0" y="6429396"/>
            <a:ext cx="4419095" cy="369332"/>
          </a:xfrm>
          <a:prstGeom prst="rect">
            <a:avLst/>
          </a:prstGeom>
          <a:noFill/>
        </p:spPr>
        <p:txBody>
          <a:bodyPr wrap="none" rtlCol="0">
            <a:spAutoFit/>
          </a:bodyPr>
          <a:lstStyle/>
          <a:p>
            <a:r>
              <a:rPr lang="en-IN" b="1" dirty="0"/>
              <a:t>DEPARTMENT OF COMPUTER APPLICATIONS</a:t>
            </a:r>
          </a:p>
        </p:txBody>
      </p:sp>
      <p:sp>
        <p:nvSpPr>
          <p:cNvPr id="11" name="TextBox 1"/>
          <p:cNvSpPr txBox="1">
            <a:spLocks noChangeArrowheads="1"/>
          </p:cNvSpPr>
          <p:nvPr/>
        </p:nvSpPr>
        <p:spPr bwMode="auto">
          <a:xfrm>
            <a:off x="0" y="181253"/>
            <a:ext cx="6500826" cy="461665"/>
          </a:xfrm>
          <a:prstGeom prst="rect">
            <a:avLst/>
          </a:prstGeom>
          <a:solidFill>
            <a:schemeClr val="bg1"/>
          </a:solidFill>
          <a:ln w="9525">
            <a:noFill/>
            <a:miter lim="800000"/>
            <a:headEnd/>
            <a:tailEnd/>
          </a:ln>
        </p:spPr>
        <p:txBody>
          <a:bodyPr wrap="square">
            <a:spAutoFit/>
          </a:bodyPr>
          <a:lstStyle/>
          <a:p>
            <a:pPr eaLnBrk="1" hangingPunct="1"/>
            <a:r>
              <a:rPr lang="en-US" altLang="en-US" sz="2400" b="1" dirty="0">
                <a:solidFill>
                  <a:schemeClr val="tx2">
                    <a:lumMod val="50000"/>
                  </a:schemeClr>
                </a:solidFill>
              </a:rPr>
              <a:t>PRESENTATION AT A GLANCE</a:t>
            </a:r>
          </a:p>
        </p:txBody>
      </p:sp>
      <p:sp>
        <p:nvSpPr>
          <p:cNvPr id="15" name="Rectangle 14"/>
          <p:cNvSpPr/>
          <p:nvPr/>
        </p:nvSpPr>
        <p:spPr>
          <a:xfrm>
            <a:off x="285808" y="1839916"/>
            <a:ext cx="8748464" cy="4081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Arial" panose="020B0604020202020204" pitchFamily="34" charset="0"/>
              <a:buChar char="•"/>
            </a:pPr>
            <a:endParaRPr lang="en-IN" sz="2400" b="1" dirty="0">
              <a:solidFill>
                <a:schemeClr val="tx2"/>
              </a:solidFill>
              <a:cs typeface="Arial" panose="020B0604020202020204" pitchFamily="34" charset="0"/>
            </a:endParaRPr>
          </a:p>
          <a:p>
            <a:pPr marL="342900" indent="-342900">
              <a:lnSpc>
                <a:spcPct val="150000"/>
              </a:lnSpc>
              <a:buFont typeface="Arial" panose="020B0604020202020204" pitchFamily="34" charset="0"/>
              <a:buChar char="•"/>
            </a:pPr>
            <a:r>
              <a:rPr lang="en-IN" sz="2000" b="1" dirty="0">
                <a:solidFill>
                  <a:srgbClr val="C00000"/>
                </a:solidFill>
                <a:cs typeface="Arial" panose="020B0604020202020204" pitchFamily="34" charset="0"/>
              </a:rPr>
              <a:t>Abstract</a:t>
            </a:r>
          </a:p>
          <a:p>
            <a:pPr marL="342900" indent="-342900">
              <a:lnSpc>
                <a:spcPct val="150000"/>
              </a:lnSpc>
              <a:buFont typeface="Arial" panose="020B0604020202020204" pitchFamily="34" charset="0"/>
              <a:buChar char="•"/>
            </a:pPr>
            <a:r>
              <a:rPr lang="en-US" sz="2000" b="1" dirty="0">
                <a:solidFill>
                  <a:schemeClr val="tx2"/>
                </a:solidFill>
                <a:cs typeface="Arial" panose="020B0604020202020204" pitchFamily="34" charset="0"/>
              </a:rPr>
              <a:t>Literature Survey</a:t>
            </a:r>
          </a:p>
          <a:p>
            <a:pPr marL="342900" indent="-342900">
              <a:lnSpc>
                <a:spcPct val="150000"/>
              </a:lnSpc>
              <a:buFont typeface="Arial" panose="020B0604020202020204" pitchFamily="34" charset="0"/>
              <a:buChar char="•"/>
            </a:pPr>
            <a:r>
              <a:rPr lang="en-IN" sz="2000" b="1" dirty="0">
                <a:solidFill>
                  <a:srgbClr val="C00000"/>
                </a:solidFill>
                <a:cs typeface="Arial" panose="020B0604020202020204" pitchFamily="34" charset="0"/>
              </a:rPr>
              <a:t>Problem Identified</a:t>
            </a:r>
          </a:p>
          <a:p>
            <a:pPr marL="342900" indent="-342900">
              <a:lnSpc>
                <a:spcPct val="150000"/>
              </a:lnSpc>
              <a:buFont typeface="Arial" panose="020B0604020202020204" pitchFamily="34" charset="0"/>
              <a:buChar char="•"/>
            </a:pPr>
            <a:r>
              <a:rPr lang="en-IN" sz="2000" b="1" dirty="0">
                <a:solidFill>
                  <a:schemeClr val="tx2"/>
                </a:solidFill>
                <a:cs typeface="Arial" panose="020B0604020202020204" pitchFamily="34" charset="0"/>
              </a:rPr>
              <a:t>Objective</a:t>
            </a:r>
          </a:p>
          <a:p>
            <a:pPr marL="342900" indent="-342900">
              <a:lnSpc>
                <a:spcPct val="150000"/>
              </a:lnSpc>
              <a:buFont typeface="Arial" panose="020B0604020202020204" pitchFamily="34" charset="0"/>
              <a:buChar char="•"/>
            </a:pPr>
            <a:r>
              <a:rPr lang="en-US" sz="2000" b="1" dirty="0">
                <a:solidFill>
                  <a:srgbClr val="C00000"/>
                </a:solidFill>
                <a:cs typeface="Arial" panose="020B0604020202020204" pitchFamily="34" charset="0"/>
              </a:rPr>
              <a:t>Existing System</a:t>
            </a:r>
          </a:p>
          <a:p>
            <a:pPr marL="342900" indent="-342900">
              <a:lnSpc>
                <a:spcPct val="150000"/>
              </a:lnSpc>
              <a:buFont typeface="Arial" panose="020B0604020202020204" pitchFamily="34" charset="0"/>
              <a:buChar char="•"/>
            </a:pPr>
            <a:r>
              <a:rPr lang="en-US" sz="2000" b="1" dirty="0">
                <a:solidFill>
                  <a:schemeClr val="tx2"/>
                </a:solidFill>
                <a:cs typeface="Arial" panose="020B0604020202020204" pitchFamily="34" charset="0"/>
              </a:rPr>
              <a:t>Proposed System</a:t>
            </a:r>
            <a:endParaRPr lang="en-IN" sz="2000" b="1" dirty="0">
              <a:solidFill>
                <a:schemeClr val="tx2"/>
              </a:solidFill>
              <a:cs typeface="Arial" panose="020B0604020202020204" pitchFamily="34" charset="0"/>
            </a:endParaRPr>
          </a:p>
          <a:p>
            <a:pPr marL="342900" indent="-342900">
              <a:lnSpc>
                <a:spcPct val="150000"/>
              </a:lnSpc>
              <a:buFont typeface="Arial" panose="020B0604020202020204" pitchFamily="34" charset="0"/>
              <a:buChar char="•"/>
            </a:pPr>
            <a:r>
              <a:rPr lang="en-US" sz="2000" b="1" dirty="0">
                <a:solidFill>
                  <a:srgbClr val="C00000"/>
                </a:solidFill>
                <a:cs typeface="Arial" panose="020B0604020202020204" pitchFamily="34" charset="0"/>
              </a:rPr>
              <a:t>Architecture Diagram</a:t>
            </a:r>
            <a:endParaRPr lang="en-IN" sz="2000" b="1" dirty="0">
              <a:solidFill>
                <a:srgbClr val="C00000"/>
              </a:solidFill>
              <a:cs typeface="Arial" panose="020B0604020202020204" pitchFamily="34" charset="0"/>
            </a:endParaRPr>
          </a:p>
          <a:p>
            <a:pPr marL="342900" indent="-342900">
              <a:lnSpc>
                <a:spcPct val="150000"/>
              </a:lnSpc>
              <a:buFont typeface="Arial" panose="020B0604020202020204" pitchFamily="34" charset="0"/>
              <a:buChar char="•"/>
            </a:pPr>
            <a:r>
              <a:rPr lang="en-US" sz="2000" b="1" dirty="0">
                <a:solidFill>
                  <a:schemeClr val="tx2"/>
                </a:solidFill>
                <a:cs typeface="Arial" panose="020B0604020202020204" pitchFamily="34" charset="0"/>
              </a:rPr>
              <a:t>Detailed Algorithm For Each Module</a:t>
            </a:r>
          </a:p>
          <a:p>
            <a:pPr marL="342900" indent="-342900">
              <a:lnSpc>
                <a:spcPct val="150000"/>
              </a:lnSpc>
              <a:buFont typeface="Arial" panose="020B0604020202020204" pitchFamily="34" charset="0"/>
              <a:buChar char="•"/>
            </a:pPr>
            <a:r>
              <a:rPr lang="en-US" sz="2000" b="1" dirty="0">
                <a:solidFill>
                  <a:srgbClr val="C00000"/>
                </a:solidFill>
                <a:cs typeface="Arial" panose="020B0604020202020204" pitchFamily="34" charset="0"/>
              </a:rPr>
              <a:t>Result with Analysis</a:t>
            </a:r>
          </a:p>
          <a:p>
            <a:pPr marL="342900" indent="-342900">
              <a:lnSpc>
                <a:spcPct val="150000"/>
              </a:lnSpc>
              <a:buFont typeface="Arial" panose="020B0604020202020204" pitchFamily="34" charset="0"/>
              <a:buChar char="•"/>
            </a:pPr>
            <a:r>
              <a:rPr lang="en-US" sz="2000" b="1" dirty="0">
                <a:solidFill>
                  <a:schemeClr val="tx2"/>
                </a:solidFill>
                <a:cs typeface="Arial" panose="020B0604020202020204" pitchFamily="34" charset="0"/>
              </a:rPr>
              <a:t>Conclusion and Future Scope</a:t>
            </a:r>
          </a:p>
          <a:p>
            <a:pPr marL="342900" indent="-342900">
              <a:lnSpc>
                <a:spcPct val="150000"/>
              </a:lnSpc>
              <a:buFont typeface="Arial" panose="020B0604020202020204" pitchFamily="34" charset="0"/>
              <a:buChar char="•"/>
            </a:pPr>
            <a:r>
              <a:rPr lang="en-US" sz="2000" b="1" dirty="0">
                <a:solidFill>
                  <a:srgbClr val="C00000"/>
                </a:solidFill>
                <a:cs typeface="Arial" panose="020B0604020202020204" pitchFamily="34" charset="0"/>
              </a:rPr>
              <a:t>Technology Certification</a:t>
            </a:r>
          </a:p>
          <a:p>
            <a:pPr marL="342900" indent="-342900">
              <a:lnSpc>
                <a:spcPct val="150000"/>
              </a:lnSpc>
              <a:buFont typeface="Arial" panose="020B0604020202020204" pitchFamily="34" charset="0"/>
              <a:buChar char="•"/>
            </a:pPr>
            <a:endParaRPr lang="en-US" sz="2400" b="1" dirty="0">
              <a:solidFill>
                <a:srgbClr val="17375E"/>
              </a:solidFill>
              <a:cs typeface="Arial" panose="020B0604020202020204" pitchFamily="34" charset="0"/>
            </a:endParaRPr>
          </a:p>
          <a:p>
            <a:pPr>
              <a:lnSpc>
                <a:spcPct val="150000"/>
              </a:lnSpc>
            </a:pPr>
            <a:endParaRPr lang="en-IN" sz="2400" b="1" dirty="0">
              <a:solidFill>
                <a:schemeClr val="tx2"/>
              </a:solidFill>
              <a:cs typeface="Arial" panose="020B0604020202020204" pitchFamily="34" charset="0"/>
            </a:endParaRPr>
          </a:p>
          <a:p>
            <a:pPr marL="342900" indent="-342900">
              <a:lnSpc>
                <a:spcPct val="150000"/>
              </a:lnSpc>
              <a:buFont typeface="+mj-lt"/>
              <a:buAutoNum type="arabicPeriod"/>
            </a:pPr>
            <a:endParaRPr lang="en-IN" sz="2400" b="1" dirty="0">
              <a:solidFill>
                <a:schemeClr val="tx2"/>
              </a:solidFill>
              <a:cs typeface="Arial" panose="020B0604020202020204" pitchFamily="34" charset="0"/>
            </a:endParaRPr>
          </a:p>
        </p:txBody>
      </p:sp>
      <p:sp>
        <p:nvSpPr>
          <p:cNvPr id="10" name="Slide Number Placeholder 2">
            <a:extLst>
              <a:ext uri="{FF2B5EF4-FFF2-40B4-BE49-F238E27FC236}">
                <a16:creationId xmlns:a16="http://schemas.microsoft.com/office/drawing/2014/main" id="{435B164F-6C56-4497-B148-35006F6418A2}"/>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a:t>
            </a:fld>
            <a:endParaRPr lang="en-IN" sz="1400" b="1" dirty="0">
              <a:solidFill>
                <a:schemeClr val="tx1"/>
              </a:solidFill>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9464" y="4469"/>
            <a:ext cx="2314536" cy="674168"/>
          </a:xfrm>
          <a:prstGeom prst="rect">
            <a:avLst/>
          </a:prstGeom>
        </p:spPr>
      </p:pic>
    </p:spTree>
    <p:extLst>
      <p:ext uri="{BB962C8B-B14F-4D97-AF65-F5344CB8AC3E}">
        <p14:creationId xmlns:p14="http://schemas.microsoft.com/office/powerpoint/2010/main" val="1994888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Logo"/>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C54C04E4-D790-42A3-8C76-2D46558D9922}"/>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3</a:t>
            </a:fld>
            <a:endParaRPr lang="en-IN" sz="1400" b="1" dirty="0">
              <a:solidFill>
                <a:schemeClr val="tx1"/>
              </a:solidFill>
            </a:endParaRPr>
          </a:p>
        </p:txBody>
      </p:sp>
      <p:sp>
        <p:nvSpPr>
          <p:cNvPr id="5" name="Rectangle 4"/>
          <p:cNvSpPr/>
          <p:nvPr/>
        </p:nvSpPr>
        <p:spPr>
          <a:xfrm>
            <a:off x="-32" y="210491"/>
            <a:ext cx="1735155" cy="523220"/>
          </a:xfrm>
          <a:prstGeom prst="rect">
            <a:avLst/>
          </a:prstGeom>
        </p:spPr>
        <p:txBody>
          <a:bodyPr wrap="none">
            <a:spAutoFit/>
          </a:bodyPr>
          <a:lstStyle/>
          <a:p>
            <a:r>
              <a:rPr lang="en-IN" sz="2800" b="1" dirty="0">
                <a:solidFill>
                  <a:srgbClr val="C00000"/>
                </a:solidFill>
                <a:cs typeface="Arial" panose="020B0604020202020204" pitchFamily="34" charset="0"/>
              </a:rPr>
              <a:t>ABSTRACT</a:t>
            </a:r>
            <a:endParaRPr lang="en-IN" sz="2800" dirty="0">
              <a:solidFill>
                <a:srgbClr val="C00000"/>
              </a:solidFill>
            </a:endParaRPr>
          </a:p>
        </p:txBody>
      </p:sp>
      <p:sp>
        <p:nvSpPr>
          <p:cNvPr id="6" name="TextBox 5">
            <a:extLst>
              <a:ext uri="{FF2B5EF4-FFF2-40B4-BE49-F238E27FC236}">
                <a16:creationId xmlns:a16="http://schemas.microsoft.com/office/drawing/2014/main" id="{5E360921-6FA0-3023-57E7-304928861BD3}"/>
              </a:ext>
            </a:extLst>
          </p:cNvPr>
          <p:cNvSpPr txBox="1"/>
          <p:nvPr/>
        </p:nvSpPr>
        <p:spPr>
          <a:xfrm>
            <a:off x="81538" y="916322"/>
            <a:ext cx="8964926" cy="448449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IN" sz="1600" kern="0" dirty="0">
                <a:effectLst/>
                <a:latin typeface="Arial" panose="020B0604020202020204" pitchFamily="34" charset="0"/>
                <a:ea typeface="Calibri" panose="020F0502020204030204" pitchFamily="34" charset="0"/>
              </a:rPr>
              <a:t>The Honeypot System is a cybersecurity tool designed to detect, </a:t>
            </a:r>
            <a:r>
              <a:rPr lang="en-IN" sz="1600" kern="0" dirty="0" err="1">
                <a:effectLst/>
                <a:latin typeface="Arial" panose="020B0604020202020204" pitchFamily="34" charset="0"/>
                <a:ea typeface="Calibri" panose="020F0502020204030204" pitchFamily="34" charset="0"/>
              </a:rPr>
              <a:t>analyze</a:t>
            </a:r>
            <a:r>
              <a:rPr lang="en-IN" sz="1600" kern="0" dirty="0">
                <a:effectLst/>
                <a:latin typeface="Arial" panose="020B0604020202020204" pitchFamily="34" charset="0"/>
                <a:ea typeface="Calibri" panose="020F0502020204030204" pitchFamily="34" charset="0"/>
              </a:rPr>
              <a:t> and mitigate unauthorized access attempts by simulating vulnerable network services. </a:t>
            </a:r>
          </a:p>
          <a:p>
            <a:pPr marL="285750" indent="-285750" algn="just">
              <a:lnSpc>
                <a:spcPct val="150000"/>
              </a:lnSpc>
              <a:buFont typeface="Wingdings" panose="05000000000000000000" pitchFamily="2" charset="2"/>
              <a:buChar char="Ø"/>
            </a:pPr>
            <a:r>
              <a:rPr lang="en-IN" sz="1600" kern="0" dirty="0">
                <a:effectLst/>
                <a:latin typeface="Arial" panose="020B0604020202020204" pitchFamily="34" charset="0"/>
                <a:ea typeface="Calibri" panose="020F0502020204030204" pitchFamily="34" charset="0"/>
              </a:rPr>
              <a:t>This project implements two primary honeypot modules an SSH Honeypot and an HTTP WordPress Honeypot, both integrated with a comprehensive dashboard for real time data visualization and analysis. </a:t>
            </a:r>
          </a:p>
          <a:p>
            <a:pPr marL="285750" indent="-285750" algn="just">
              <a:lnSpc>
                <a:spcPct val="150000"/>
              </a:lnSpc>
              <a:buFont typeface="Wingdings" panose="05000000000000000000" pitchFamily="2" charset="2"/>
              <a:buChar char="Ø"/>
            </a:pPr>
            <a:r>
              <a:rPr lang="en-IN" sz="1600" kern="0" dirty="0">
                <a:effectLst/>
                <a:latin typeface="Arial" panose="020B0604020202020204" pitchFamily="34" charset="0"/>
                <a:ea typeface="Calibri" panose="020F0502020204030204" pitchFamily="34" charset="0"/>
              </a:rPr>
              <a:t>The SSH Honeypot emulates a secure shell server to capture attacker credentials and commands, while the HTTP Honeypot mimics a WordPress login page to log unauthorized access attempts. </a:t>
            </a:r>
          </a:p>
          <a:p>
            <a:pPr marL="285750" indent="-285750" algn="just">
              <a:lnSpc>
                <a:spcPct val="150000"/>
              </a:lnSpc>
              <a:buFont typeface="Wingdings" panose="05000000000000000000" pitchFamily="2" charset="2"/>
              <a:buChar char="Ø"/>
            </a:pPr>
            <a:r>
              <a:rPr lang="en-IN" sz="1600" kern="0" dirty="0">
                <a:effectLst/>
                <a:latin typeface="Arial" panose="020B0604020202020204" pitchFamily="34" charset="0"/>
                <a:ea typeface="Calibri" panose="020F0502020204030204" pitchFamily="34" charset="0"/>
              </a:rPr>
              <a:t>Both modules employ logging mechanisms to record attacker interactions, including IP addresses, usernames, passwords and executed commands.</a:t>
            </a:r>
          </a:p>
          <a:p>
            <a:pPr marL="285750" indent="-285750" algn="just">
              <a:lnSpc>
                <a:spcPct val="150000"/>
              </a:lnSpc>
              <a:buFont typeface="Wingdings" panose="05000000000000000000" pitchFamily="2" charset="2"/>
              <a:buChar char="Ø"/>
            </a:pPr>
            <a:r>
              <a:rPr lang="en-IN" sz="1600" kern="0" dirty="0">
                <a:effectLst/>
                <a:latin typeface="Arial" panose="020B0604020202020204" pitchFamily="34" charset="0"/>
                <a:ea typeface="Calibri" panose="020F0502020204030204" pitchFamily="34" charset="0"/>
              </a:rPr>
              <a:t>The collected data is parsed and processed using Python based data analysis tools, including Pandas for log parsing and Dash for creating an interactive web based dashboard</a:t>
            </a:r>
            <a:endParaRPr lang="en-GB" sz="1600" dirty="0"/>
          </a:p>
        </p:txBody>
      </p:sp>
    </p:spTree>
    <p:extLst>
      <p:ext uri="{BB962C8B-B14F-4D97-AF65-F5344CB8AC3E}">
        <p14:creationId xmlns:p14="http://schemas.microsoft.com/office/powerpoint/2010/main" val="232530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5D6AF-5CCF-D6E8-263A-90F5FC393380}"/>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907BC51B-1AE5-7A51-A842-0A7584BEE136}"/>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C0014352-391C-F017-DFC3-B02902EB323E}"/>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DA15860E-E5BA-5D20-97BD-0204187BAEB6}"/>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89A17EE5-79F8-2E16-4A06-8A193A13DC1D}"/>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5ECB9E24-EEA0-812B-250E-67C01C24E41D}"/>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147002F8-EA3E-50E5-8BBF-DF63FA9D2FE0}"/>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57661969-1F6B-63F3-3DAE-A2E39739AB27}"/>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4</a:t>
            </a:fld>
            <a:endParaRPr lang="en-IN" sz="1400" b="1" dirty="0">
              <a:solidFill>
                <a:schemeClr val="tx1"/>
              </a:solidFill>
            </a:endParaRPr>
          </a:p>
        </p:txBody>
      </p:sp>
      <p:sp>
        <p:nvSpPr>
          <p:cNvPr id="5" name="Rectangle 4">
            <a:extLst>
              <a:ext uri="{FF2B5EF4-FFF2-40B4-BE49-F238E27FC236}">
                <a16:creationId xmlns:a16="http://schemas.microsoft.com/office/drawing/2014/main" id="{9DF90279-3705-3751-DDE2-BF4141CFA443}"/>
              </a:ext>
            </a:extLst>
          </p:cNvPr>
          <p:cNvSpPr/>
          <p:nvPr/>
        </p:nvSpPr>
        <p:spPr>
          <a:xfrm>
            <a:off x="107504" y="178637"/>
            <a:ext cx="3028521" cy="523220"/>
          </a:xfrm>
          <a:prstGeom prst="rect">
            <a:avLst/>
          </a:prstGeom>
        </p:spPr>
        <p:txBody>
          <a:bodyPr wrap="none">
            <a:spAutoFit/>
          </a:bodyPr>
          <a:lstStyle/>
          <a:p>
            <a:r>
              <a:rPr lang="en-IN" sz="2800" b="1" dirty="0">
                <a:solidFill>
                  <a:schemeClr val="tx2"/>
                </a:solidFill>
                <a:cs typeface="Arial" panose="020B0604020202020204" pitchFamily="34" charset="0"/>
              </a:rPr>
              <a:t>LITERTURE SURVEY</a:t>
            </a:r>
            <a:endParaRPr lang="en-IN" sz="2800" dirty="0">
              <a:solidFill>
                <a:schemeClr val="tx2"/>
              </a:solidFill>
            </a:endParaRPr>
          </a:p>
        </p:txBody>
      </p:sp>
      <p:graphicFrame>
        <p:nvGraphicFramePr>
          <p:cNvPr id="6" name="Table 5">
            <a:extLst>
              <a:ext uri="{FF2B5EF4-FFF2-40B4-BE49-F238E27FC236}">
                <a16:creationId xmlns:a16="http://schemas.microsoft.com/office/drawing/2014/main" id="{D857B4CE-31B0-6A3E-31C1-3545315BB7DE}"/>
              </a:ext>
            </a:extLst>
          </p:cNvPr>
          <p:cNvGraphicFramePr>
            <a:graphicFrameLocks noGrp="1"/>
          </p:cNvGraphicFramePr>
          <p:nvPr>
            <p:extLst>
              <p:ext uri="{D42A27DB-BD31-4B8C-83A1-F6EECF244321}">
                <p14:modId xmlns:p14="http://schemas.microsoft.com/office/powerpoint/2010/main" val="742435497"/>
              </p:ext>
            </p:extLst>
          </p:nvPr>
        </p:nvGraphicFramePr>
        <p:xfrm>
          <a:off x="53751" y="909236"/>
          <a:ext cx="9036498" cy="5261089"/>
        </p:xfrm>
        <a:graphic>
          <a:graphicData uri="http://schemas.openxmlformats.org/drawingml/2006/table">
            <a:tbl>
              <a:tblPr firstRow="1" bandRow="1">
                <a:tableStyleId>{5C22544A-7EE6-4342-B048-85BDC9FD1C3A}</a:tableStyleId>
              </a:tblPr>
              <a:tblGrid>
                <a:gridCol w="1506083">
                  <a:extLst>
                    <a:ext uri="{9D8B030D-6E8A-4147-A177-3AD203B41FA5}">
                      <a16:colId xmlns:a16="http://schemas.microsoft.com/office/drawing/2014/main" val="3557226190"/>
                    </a:ext>
                  </a:extLst>
                </a:gridCol>
                <a:gridCol w="1506083">
                  <a:extLst>
                    <a:ext uri="{9D8B030D-6E8A-4147-A177-3AD203B41FA5}">
                      <a16:colId xmlns:a16="http://schemas.microsoft.com/office/drawing/2014/main" val="3850543547"/>
                    </a:ext>
                  </a:extLst>
                </a:gridCol>
                <a:gridCol w="1079363">
                  <a:extLst>
                    <a:ext uri="{9D8B030D-6E8A-4147-A177-3AD203B41FA5}">
                      <a16:colId xmlns:a16="http://schemas.microsoft.com/office/drawing/2014/main" val="901095433"/>
                    </a:ext>
                  </a:extLst>
                </a:gridCol>
                <a:gridCol w="1389888">
                  <a:extLst>
                    <a:ext uri="{9D8B030D-6E8A-4147-A177-3AD203B41FA5}">
                      <a16:colId xmlns:a16="http://schemas.microsoft.com/office/drawing/2014/main" val="1894321894"/>
                    </a:ext>
                  </a:extLst>
                </a:gridCol>
                <a:gridCol w="2145792">
                  <a:extLst>
                    <a:ext uri="{9D8B030D-6E8A-4147-A177-3AD203B41FA5}">
                      <a16:colId xmlns:a16="http://schemas.microsoft.com/office/drawing/2014/main" val="2950742912"/>
                    </a:ext>
                  </a:extLst>
                </a:gridCol>
                <a:gridCol w="1409289">
                  <a:extLst>
                    <a:ext uri="{9D8B030D-6E8A-4147-A177-3AD203B41FA5}">
                      <a16:colId xmlns:a16="http://schemas.microsoft.com/office/drawing/2014/main" val="366081485"/>
                    </a:ext>
                  </a:extLst>
                </a:gridCol>
              </a:tblGrid>
              <a:tr h="811009">
                <a:tc>
                  <a:txBody>
                    <a:bodyPr/>
                    <a:lstStyle/>
                    <a:p>
                      <a:pPr lvl="0" algn="ctr"/>
                      <a:r>
                        <a:rPr lang="en-IN" sz="1400" dirty="0"/>
                        <a:t>Title</a:t>
                      </a:r>
                      <a:r>
                        <a:rPr lang="en-IN" dirty="0"/>
                        <a:t> </a:t>
                      </a:r>
                    </a:p>
                  </a:txBody>
                  <a:tcPr anchor="ctr"/>
                </a:tc>
                <a:tc>
                  <a:txBody>
                    <a:bodyPr/>
                    <a:lstStyle/>
                    <a:p>
                      <a:pPr lvl="0" algn="ctr"/>
                      <a:r>
                        <a:rPr lang="en-IN" sz="1400" dirty="0"/>
                        <a:t>Author</a:t>
                      </a:r>
                    </a:p>
                  </a:txBody>
                  <a:tcPr anchor="ctr"/>
                </a:tc>
                <a:tc>
                  <a:txBody>
                    <a:bodyPr/>
                    <a:lstStyle/>
                    <a:p>
                      <a:r>
                        <a:rPr lang="en-IN" sz="1400" dirty="0"/>
                        <a:t>Year of Publication</a:t>
                      </a:r>
                    </a:p>
                  </a:txBody>
                  <a:tcPr anchor="ctr"/>
                </a:tc>
                <a:tc>
                  <a:txBody>
                    <a:bodyPr/>
                    <a:lstStyle/>
                    <a:p>
                      <a:pPr algn="ctr"/>
                      <a:r>
                        <a:rPr lang="en-IN" sz="1400" dirty="0"/>
                        <a:t>Journal Name</a:t>
                      </a:r>
                    </a:p>
                  </a:txBody>
                  <a:tcPr anchor="ctr"/>
                </a:tc>
                <a:tc>
                  <a:txBody>
                    <a:bodyPr/>
                    <a:lstStyle/>
                    <a:p>
                      <a:pPr algn="ctr"/>
                      <a:r>
                        <a:rPr lang="en-IN" sz="1400" dirty="0"/>
                        <a:t>Description</a:t>
                      </a:r>
                    </a:p>
                  </a:txBody>
                  <a:tcPr anchor="ctr"/>
                </a:tc>
                <a:tc>
                  <a:txBody>
                    <a:bodyPr/>
                    <a:lstStyle/>
                    <a:p>
                      <a:pPr algn="ctr"/>
                      <a:r>
                        <a:rPr lang="en-IN" sz="1400" dirty="0"/>
                        <a:t>Limitation</a:t>
                      </a:r>
                    </a:p>
                  </a:txBody>
                  <a:tcPr anchor="ctr"/>
                </a:tc>
                <a:extLst>
                  <a:ext uri="{0D108BD9-81ED-4DB2-BD59-A6C34878D82A}">
                    <a16:rowId xmlns:a16="http://schemas.microsoft.com/office/drawing/2014/main" val="4001558415"/>
                  </a:ext>
                </a:extLst>
              </a:tr>
              <a:tr h="1249833">
                <a:tc>
                  <a:txBody>
                    <a:bodyPr/>
                    <a:lstStyle/>
                    <a:p>
                      <a:r>
                        <a:rPr lang="en-GB" sz="1400" dirty="0"/>
                        <a:t>Utilizing virtualized honeypots for threat hunting, malware analysis,</a:t>
                      </a:r>
                    </a:p>
                    <a:p>
                      <a:r>
                        <a:rPr lang="en-GB" sz="1400" dirty="0"/>
                        <a:t>and reporting</a:t>
                      </a:r>
                      <a:endParaRPr lang="en-IN" sz="1400" dirty="0"/>
                    </a:p>
                  </a:txBody>
                  <a:tcPr/>
                </a:tc>
                <a:tc>
                  <a:txBody>
                    <a:bodyPr/>
                    <a:lstStyle/>
                    <a:p>
                      <a:r>
                        <a:rPr lang="en-IN" sz="1400" dirty="0"/>
                        <a:t>Reilly </a:t>
                      </a:r>
                      <a:r>
                        <a:rPr lang="en-IN" sz="1400" dirty="0" err="1"/>
                        <a:t>Holbel</a:t>
                      </a:r>
                      <a:r>
                        <a:rPr lang="en-IN" sz="1400" dirty="0"/>
                        <a:t>,</a:t>
                      </a:r>
                    </a:p>
                    <a:p>
                      <a:r>
                        <a:rPr lang="en-IN" sz="1400" dirty="0"/>
                        <a:t>Johnathan </a:t>
                      </a:r>
                      <a:r>
                        <a:rPr lang="en-IN" sz="1400" dirty="0" err="1"/>
                        <a:t>Yerby</a:t>
                      </a:r>
                      <a:r>
                        <a:rPr lang="en-IN" sz="1400" dirty="0"/>
                        <a:t>,</a:t>
                      </a:r>
                    </a:p>
                    <a:p>
                      <a:r>
                        <a:rPr lang="en-IN" sz="1400" dirty="0"/>
                        <a:t>Warner Smith</a:t>
                      </a:r>
                    </a:p>
                    <a:p>
                      <a:endParaRPr lang="en-IN" sz="1400" dirty="0"/>
                    </a:p>
                  </a:txBody>
                  <a:tcPr/>
                </a:tc>
                <a:tc>
                  <a:txBody>
                    <a:bodyPr/>
                    <a:lstStyle/>
                    <a:p>
                      <a:pPr algn="ctr"/>
                      <a:r>
                        <a:rPr lang="en-IN" sz="1400" dirty="0"/>
                        <a:t>2024</a:t>
                      </a:r>
                    </a:p>
                  </a:txBody>
                  <a:tcPr/>
                </a:tc>
                <a:tc>
                  <a:txBody>
                    <a:bodyPr/>
                    <a:lstStyle/>
                    <a:p>
                      <a:r>
                        <a:rPr lang="en-IN" sz="1400" dirty="0"/>
                        <a:t>International Association for Computer Information Systems </a:t>
                      </a:r>
                    </a:p>
                  </a:txBody>
                  <a:tcPr/>
                </a:tc>
                <a:tc>
                  <a:txBody>
                    <a:bodyPr/>
                    <a:lstStyle/>
                    <a:p>
                      <a:pPr algn="l"/>
                      <a:r>
                        <a:rPr lang="en-GB" sz="1400" b="0" i="0" kern="1200" dirty="0">
                          <a:solidFill>
                            <a:schemeClr val="dk1"/>
                          </a:solidFill>
                          <a:effectLst/>
                          <a:latin typeface="+mn-lt"/>
                          <a:ea typeface="+mn-ea"/>
                          <a:cs typeface="+mn-cs"/>
                        </a:rPr>
                        <a:t>The deployment of a virtualized honeypot system on a university network to </a:t>
                      </a:r>
                      <a:r>
                        <a:rPr lang="en-GB" sz="1400" b="0" i="0" kern="1200" dirty="0" err="1">
                          <a:solidFill>
                            <a:schemeClr val="dk1"/>
                          </a:solidFill>
                          <a:effectLst/>
                          <a:latin typeface="+mn-lt"/>
                          <a:ea typeface="+mn-ea"/>
                          <a:cs typeface="+mn-cs"/>
                        </a:rPr>
                        <a:t>analyze</a:t>
                      </a:r>
                      <a:r>
                        <a:rPr lang="en-GB" sz="1400" b="0" i="0" kern="1200" dirty="0">
                          <a:solidFill>
                            <a:schemeClr val="dk1"/>
                          </a:solidFill>
                          <a:effectLst/>
                          <a:latin typeface="+mn-lt"/>
                          <a:ea typeface="+mn-ea"/>
                          <a:cs typeface="+mn-cs"/>
                        </a:rPr>
                        <a:t> cyber threats in real time. By integrating (SIEM) with Elastic Stack, the study successfully captured and </a:t>
                      </a:r>
                      <a:r>
                        <a:rPr lang="en-GB" sz="1400" b="0" i="0" kern="1200" dirty="0" err="1">
                          <a:solidFill>
                            <a:schemeClr val="dk1"/>
                          </a:solidFill>
                          <a:effectLst/>
                          <a:latin typeface="+mn-lt"/>
                          <a:ea typeface="+mn-ea"/>
                          <a:cs typeface="+mn-cs"/>
                        </a:rPr>
                        <a:t>analyzed</a:t>
                      </a:r>
                      <a:r>
                        <a:rPr lang="en-GB" sz="1400" b="0" i="0" kern="1200" dirty="0">
                          <a:solidFill>
                            <a:schemeClr val="dk1"/>
                          </a:solidFill>
                          <a:effectLst/>
                          <a:latin typeface="+mn-lt"/>
                          <a:ea typeface="+mn-ea"/>
                          <a:cs typeface="+mn-cs"/>
                        </a:rPr>
                        <a:t> malware samples, attacker </a:t>
                      </a:r>
                      <a:r>
                        <a:rPr lang="en-GB" sz="1400" b="0" i="0" kern="1200" dirty="0" err="1">
                          <a:solidFill>
                            <a:schemeClr val="dk1"/>
                          </a:solidFill>
                          <a:effectLst/>
                          <a:latin typeface="+mn-lt"/>
                          <a:ea typeface="+mn-ea"/>
                          <a:cs typeface="+mn-cs"/>
                        </a:rPr>
                        <a:t>behavior</a:t>
                      </a:r>
                      <a:endParaRPr lang="en-IN" sz="1400" dirty="0"/>
                    </a:p>
                  </a:txBody>
                  <a:tcPr/>
                </a:tc>
                <a:tc>
                  <a:txBody>
                    <a:bodyPr/>
                    <a:lstStyle/>
                    <a:p>
                      <a:pPr algn="l"/>
                      <a:r>
                        <a:rPr lang="en-GB" sz="1400" dirty="0"/>
                        <a:t>Some obfuscation techniques might have bypassed detection, leading to potential false negatives.</a:t>
                      </a:r>
                      <a:endParaRPr lang="en-IN" sz="1400" dirty="0"/>
                    </a:p>
                  </a:txBody>
                  <a:tcPr/>
                </a:tc>
                <a:extLst>
                  <a:ext uri="{0D108BD9-81ED-4DB2-BD59-A6C34878D82A}">
                    <a16:rowId xmlns:a16="http://schemas.microsoft.com/office/drawing/2014/main" val="3801829877"/>
                  </a:ext>
                </a:extLst>
              </a:tr>
              <a:tr h="1654099">
                <a:tc>
                  <a:txBody>
                    <a:bodyPr/>
                    <a:lstStyle/>
                    <a:p>
                      <a:r>
                        <a:rPr lang="en-GB" sz="1400" dirty="0"/>
                        <a:t>Detection and Analysis of Active Attacks using Honeypot </a:t>
                      </a:r>
                      <a:endParaRPr lang="en-IN" sz="1400" dirty="0"/>
                    </a:p>
                  </a:txBody>
                  <a:tcPr/>
                </a:tc>
                <a:tc>
                  <a:txBody>
                    <a:bodyPr/>
                    <a:lstStyle/>
                    <a:p>
                      <a:r>
                        <a:rPr lang="en-IN" sz="1400" dirty="0"/>
                        <a:t>Waqas Ahmad,</a:t>
                      </a:r>
                    </a:p>
                    <a:p>
                      <a:r>
                        <a:rPr lang="en-IN" sz="1400" dirty="0"/>
                        <a:t>Arsalan Raza,</a:t>
                      </a:r>
                    </a:p>
                    <a:p>
                      <a:r>
                        <a:rPr lang="en-IN" sz="1400" dirty="0" err="1"/>
                        <a:t>Sabreena</a:t>
                      </a:r>
                      <a:r>
                        <a:rPr lang="en-IN" sz="1400" dirty="0"/>
                        <a:t> Nawaz,</a:t>
                      </a:r>
                    </a:p>
                    <a:p>
                      <a:r>
                        <a:rPr lang="en-IN" sz="1400" dirty="0"/>
                        <a:t>Farhana Waqas</a:t>
                      </a:r>
                    </a:p>
                  </a:txBody>
                  <a:tcPr/>
                </a:tc>
                <a:tc>
                  <a:txBody>
                    <a:bodyPr/>
                    <a:lstStyle/>
                    <a:p>
                      <a:pPr algn="ctr"/>
                      <a:r>
                        <a:rPr lang="en-IN" sz="1400" dirty="0"/>
                        <a:t>2023</a:t>
                      </a:r>
                    </a:p>
                  </a:txBody>
                  <a:tcPr/>
                </a:tc>
                <a:tc>
                  <a:txBody>
                    <a:bodyPr/>
                    <a:lstStyle/>
                    <a:p>
                      <a:r>
                        <a:rPr lang="en-IN" sz="1400" dirty="0"/>
                        <a:t>International Journal of Computer Applications</a:t>
                      </a:r>
                    </a:p>
                  </a:txBody>
                  <a:tcPr/>
                </a:tc>
                <a:tc>
                  <a:txBody>
                    <a:bodyPr/>
                    <a:lstStyle/>
                    <a:p>
                      <a:r>
                        <a:rPr lang="en-GB" sz="1400" dirty="0"/>
                        <a:t>Dionaea honeypot was selected to capture, predict, and learn about the attack methods used by the attackers. As already discussed before, it is a low interaction honeypot and the performance of low interaction honeypots</a:t>
                      </a:r>
                      <a:endParaRPr lang="en-IN" sz="1400" dirty="0"/>
                    </a:p>
                  </a:txBody>
                  <a:tcPr/>
                </a:tc>
                <a:tc>
                  <a:txBody>
                    <a:bodyPr/>
                    <a:lstStyle/>
                    <a:p>
                      <a:r>
                        <a:rPr lang="en-GB" sz="1400" dirty="0"/>
                        <a:t>There are constraints in terms of attack correlation and analysis, as honeypots may miss important attack vectors</a:t>
                      </a:r>
                      <a:endParaRPr lang="en-IN" sz="1400" dirty="0"/>
                    </a:p>
                  </a:txBody>
                  <a:tcPr/>
                </a:tc>
                <a:extLst>
                  <a:ext uri="{0D108BD9-81ED-4DB2-BD59-A6C34878D82A}">
                    <a16:rowId xmlns:a16="http://schemas.microsoft.com/office/drawing/2014/main" val="3362861732"/>
                  </a:ext>
                </a:extLst>
              </a:tr>
            </a:tbl>
          </a:graphicData>
        </a:graphic>
      </p:graphicFrame>
    </p:spTree>
    <p:extLst>
      <p:ext uri="{BB962C8B-B14F-4D97-AF65-F5344CB8AC3E}">
        <p14:creationId xmlns:p14="http://schemas.microsoft.com/office/powerpoint/2010/main" val="993916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2A78E-D74D-29A9-6905-85BBA217012C}"/>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ACB26158-671E-E6D4-363E-E04AAD4739F2}"/>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FABA6FC0-1308-522C-F0AC-04E3A6E860A3}"/>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8BAE9219-D5A7-3994-8F0F-D5E74F7B8AD1}"/>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6BD12615-52EF-65BD-F4DA-ACC7B970982A}"/>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54BF11AF-2140-DFDA-97EC-4D35D3E5B61E}"/>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ED324A3B-3BA4-77D3-1EB2-137A84FABACC}"/>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5772530F-EF06-A3B1-3F49-3F5DF66D25FD}"/>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5</a:t>
            </a:fld>
            <a:endParaRPr lang="en-IN" sz="1400" b="1" dirty="0">
              <a:solidFill>
                <a:schemeClr val="tx1"/>
              </a:solidFill>
            </a:endParaRPr>
          </a:p>
        </p:txBody>
      </p:sp>
      <p:sp>
        <p:nvSpPr>
          <p:cNvPr id="5" name="Rectangle 4">
            <a:extLst>
              <a:ext uri="{FF2B5EF4-FFF2-40B4-BE49-F238E27FC236}">
                <a16:creationId xmlns:a16="http://schemas.microsoft.com/office/drawing/2014/main" id="{67820FCB-23EC-08B5-D387-A2A16F5EECE8}"/>
              </a:ext>
            </a:extLst>
          </p:cNvPr>
          <p:cNvSpPr/>
          <p:nvPr/>
        </p:nvSpPr>
        <p:spPr>
          <a:xfrm>
            <a:off x="107504" y="178637"/>
            <a:ext cx="3028521" cy="523220"/>
          </a:xfrm>
          <a:prstGeom prst="rect">
            <a:avLst/>
          </a:prstGeom>
        </p:spPr>
        <p:txBody>
          <a:bodyPr wrap="none">
            <a:spAutoFit/>
          </a:bodyPr>
          <a:lstStyle/>
          <a:p>
            <a:r>
              <a:rPr lang="en-IN" sz="2800" b="1" dirty="0">
                <a:solidFill>
                  <a:schemeClr val="tx2"/>
                </a:solidFill>
                <a:cs typeface="Arial" panose="020B0604020202020204" pitchFamily="34" charset="0"/>
              </a:rPr>
              <a:t>LITERTURE SURVEY</a:t>
            </a:r>
            <a:endParaRPr lang="en-IN" sz="2800" dirty="0">
              <a:solidFill>
                <a:schemeClr val="tx2"/>
              </a:solidFill>
            </a:endParaRPr>
          </a:p>
        </p:txBody>
      </p:sp>
      <p:graphicFrame>
        <p:nvGraphicFramePr>
          <p:cNvPr id="6" name="Table 5">
            <a:extLst>
              <a:ext uri="{FF2B5EF4-FFF2-40B4-BE49-F238E27FC236}">
                <a16:creationId xmlns:a16="http://schemas.microsoft.com/office/drawing/2014/main" id="{8AEE46F9-95C3-62BC-07EC-6B3B2CDE3F5F}"/>
              </a:ext>
            </a:extLst>
          </p:cNvPr>
          <p:cNvGraphicFramePr>
            <a:graphicFrameLocks noGrp="1"/>
          </p:cNvGraphicFramePr>
          <p:nvPr>
            <p:extLst>
              <p:ext uri="{D42A27DB-BD31-4B8C-83A1-F6EECF244321}">
                <p14:modId xmlns:p14="http://schemas.microsoft.com/office/powerpoint/2010/main" val="1060434829"/>
              </p:ext>
            </p:extLst>
          </p:nvPr>
        </p:nvGraphicFramePr>
        <p:xfrm>
          <a:off x="53750" y="839438"/>
          <a:ext cx="9090250" cy="5393898"/>
        </p:xfrm>
        <a:graphic>
          <a:graphicData uri="http://schemas.openxmlformats.org/drawingml/2006/table">
            <a:tbl>
              <a:tblPr firstRow="1" bandRow="1">
                <a:tableStyleId>{5C22544A-7EE6-4342-B048-85BDC9FD1C3A}</a:tableStyleId>
              </a:tblPr>
              <a:tblGrid>
                <a:gridCol w="1515042">
                  <a:extLst>
                    <a:ext uri="{9D8B030D-6E8A-4147-A177-3AD203B41FA5}">
                      <a16:colId xmlns:a16="http://schemas.microsoft.com/office/drawing/2014/main" val="2443044200"/>
                    </a:ext>
                  </a:extLst>
                </a:gridCol>
                <a:gridCol w="1515042">
                  <a:extLst>
                    <a:ext uri="{9D8B030D-6E8A-4147-A177-3AD203B41FA5}">
                      <a16:colId xmlns:a16="http://schemas.microsoft.com/office/drawing/2014/main" val="1191946194"/>
                    </a:ext>
                  </a:extLst>
                </a:gridCol>
                <a:gridCol w="1085783">
                  <a:extLst>
                    <a:ext uri="{9D8B030D-6E8A-4147-A177-3AD203B41FA5}">
                      <a16:colId xmlns:a16="http://schemas.microsoft.com/office/drawing/2014/main" val="3104934050"/>
                    </a:ext>
                  </a:extLst>
                </a:gridCol>
                <a:gridCol w="1398155">
                  <a:extLst>
                    <a:ext uri="{9D8B030D-6E8A-4147-A177-3AD203B41FA5}">
                      <a16:colId xmlns:a16="http://schemas.microsoft.com/office/drawing/2014/main" val="2995284924"/>
                    </a:ext>
                  </a:extLst>
                </a:gridCol>
                <a:gridCol w="2158556">
                  <a:extLst>
                    <a:ext uri="{9D8B030D-6E8A-4147-A177-3AD203B41FA5}">
                      <a16:colId xmlns:a16="http://schemas.microsoft.com/office/drawing/2014/main" val="3563753215"/>
                    </a:ext>
                  </a:extLst>
                </a:gridCol>
                <a:gridCol w="1417672">
                  <a:extLst>
                    <a:ext uri="{9D8B030D-6E8A-4147-A177-3AD203B41FA5}">
                      <a16:colId xmlns:a16="http://schemas.microsoft.com/office/drawing/2014/main" val="1114772309"/>
                    </a:ext>
                  </a:extLst>
                </a:gridCol>
              </a:tblGrid>
              <a:tr h="779066">
                <a:tc>
                  <a:txBody>
                    <a:bodyPr/>
                    <a:lstStyle/>
                    <a:p>
                      <a:pPr lvl="0" algn="ctr"/>
                      <a:r>
                        <a:rPr lang="en-IN" sz="1400" dirty="0"/>
                        <a:t>Title</a:t>
                      </a:r>
                      <a:r>
                        <a:rPr lang="en-IN" dirty="0"/>
                        <a:t> </a:t>
                      </a:r>
                    </a:p>
                  </a:txBody>
                  <a:tcPr anchor="ctr"/>
                </a:tc>
                <a:tc>
                  <a:txBody>
                    <a:bodyPr/>
                    <a:lstStyle/>
                    <a:p>
                      <a:pPr lvl="0" algn="ctr"/>
                      <a:r>
                        <a:rPr lang="en-IN" sz="1400" dirty="0"/>
                        <a:t>Author</a:t>
                      </a:r>
                    </a:p>
                  </a:txBody>
                  <a:tcPr anchor="ctr"/>
                </a:tc>
                <a:tc>
                  <a:txBody>
                    <a:bodyPr/>
                    <a:lstStyle/>
                    <a:p>
                      <a:r>
                        <a:rPr lang="en-IN" sz="1400" dirty="0"/>
                        <a:t>Year of Publication</a:t>
                      </a:r>
                    </a:p>
                  </a:txBody>
                  <a:tcPr anchor="ctr"/>
                </a:tc>
                <a:tc>
                  <a:txBody>
                    <a:bodyPr/>
                    <a:lstStyle/>
                    <a:p>
                      <a:pPr algn="ctr"/>
                      <a:r>
                        <a:rPr lang="en-IN" sz="1400" dirty="0"/>
                        <a:t>Journal Name</a:t>
                      </a:r>
                    </a:p>
                  </a:txBody>
                  <a:tcPr anchor="ctr"/>
                </a:tc>
                <a:tc>
                  <a:txBody>
                    <a:bodyPr/>
                    <a:lstStyle/>
                    <a:p>
                      <a:pPr algn="ctr"/>
                      <a:r>
                        <a:rPr lang="en-IN" sz="1400" dirty="0"/>
                        <a:t>Description</a:t>
                      </a:r>
                    </a:p>
                  </a:txBody>
                  <a:tcPr anchor="ctr"/>
                </a:tc>
                <a:tc>
                  <a:txBody>
                    <a:bodyPr/>
                    <a:lstStyle/>
                    <a:p>
                      <a:pPr algn="ctr"/>
                      <a:r>
                        <a:rPr lang="en-IN" sz="1400" dirty="0"/>
                        <a:t>Limitation</a:t>
                      </a:r>
                    </a:p>
                  </a:txBody>
                  <a:tcPr anchor="ctr"/>
                </a:tc>
                <a:extLst>
                  <a:ext uri="{0D108BD9-81ED-4DB2-BD59-A6C34878D82A}">
                    <a16:rowId xmlns:a16="http://schemas.microsoft.com/office/drawing/2014/main" val="4106277421"/>
                  </a:ext>
                </a:extLst>
              </a:tr>
              <a:tr h="2603152">
                <a:tc>
                  <a:txBody>
                    <a:bodyPr/>
                    <a:lstStyle/>
                    <a:p>
                      <a:r>
                        <a:rPr lang="en-GB" sz="1400" dirty="0"/>
                        <a:t>An Advanced Intrusion Detection Solution for Networks based on Honeypot Servers</a:t>
                      </a:r>
                      <a:endParaRPr lang="en-IN" sz="1400" dirty="0"/>
                    </a:p>
                  </a:txBody>
                  <a:tcPr/>
                </a:tc>
                <a:tc>
                  <a:txBody>
                    <a:bodyPr/>
                    <a:lstStyle/>
                    <a:p>
                      <a:r>
                        <a:rPr lang="en-IN" sz="1400" dirty="0"/>
                        <a:t>K. Veena,</a:t>
                      </a:r>
                    </a:p>
                    <a:p>
                      <a:r>
                        <a:rPr lang="en-IN" sz="1400" dirty="0"/>
                        <a:t>K. Meena,</a:t>
                      </a:r>
                    </a:p>
                    <a:p>
                      <a:r>
                        <a:rPr lang="en-IN" sz="1400" dirty="0"/>
                        <a:t>Mercy Theresa M,</a:t>
                      </a:r>
                    </a:p>
                    <a:p>
                      <a:r>
                        <a:rPr lang="en-IN" sz="1400" dirty="0" err="1"/>
                        <a:t>Hemalatha</a:t>
                      </a:r>
                      <a:r>
                        <a:rPr lang="en-IN" sz="1400" dirty="0"/>
                        <a:t> C,</a:t>
                      </a:r>
                    </a:p>
                    <a:p>
                      <a:r>
                        <a:rPr lang="en-IN" sz="1400" dirty="0" err="1"/>
                        <a:t>D.Rajalakshmi</a:t>
                      </a:r>
                      <a:endParaRPr lang="en-IN" sz="1400" dirty="0"/>
                    </a:p>
                  </a:txBody>
                  <a:tcPr/>
                </a:tc>
                <a:tc>
                  <a:txBody>
                    <a:bodyPr/>
                    <a:lstStyle/>
                    <a:p>
                      <a:pPr algn="ctr"/>
                      <a:r>
                        <a:rPr lang="en-IN" sz="1400" dirty="0"/>
                        <a:t>2023</a:t>
                      </a:r>
                    </a:p>
                  </a:txBody>
                  <a:tcPr/>
                </a:tc>
                <a:tc>
                  <a:txBody>
                    <a:bodyPr/>
                    <a:lstStyle/>
                    <a:p>
                      <a:pPr algn="ctr"/>
                      <a:r>
                        <a:rPr lang="en-IN" sz="1400" dirty="0"/>
                        <a:t>IEEE</a:t>
                      </a:r>
                    </a:p>
                  </a:txBody>
                  <a:tcPr/>
                </a:tc>
                <a:tc>
                  <a:txBody>
                    <a:bodyPr/>
                    <a:lstStyle/>
                    <a:p>
                      <a:pPr algn="l"/>
                      <a:r>
                        <a:rPr lang="en-GB" sz="1400" dirty="0"/>
                        <a:t>This system has demonstrated that this specific approach has a detection rate of more than 95% and a false alarm rate of less than 1% that can successfully identify unidentified attacks</a:t>
                      </a:r>
                      <a:endParaRPr lang="en-IN" sz="1400" dirty="0"/>
                    </a:p>
                  </a:txBody>
                  <a:tcPr/>
                </a:tc>
                <a:tc>
                  <a:txBody>
                    <a:bodyPr/>
                    <a:lstStyle/>
                    <a:p>
                      <a:pPr algn="l"/>
                      <a:r>
                        <a:rPr lang="en-GB" sz="1400" dirty="0"/>
                        <a:t>These solutions may have limitations in detecting zero-day attacks or previously unknown threats that don't match established attack signatures.</a:t>
                      </a:r>
                      <a:endParaRPr lang="en-IN" sz="1400" dirty="0"/>
                    </a:p>
                  </a:txBody>
                  <a:tcPr/>
                </a:tc>
                <a:extLst>
                  <a:ext uri="{0D108BD9-81ED-4DB2-BD59-A6C34878D82A}">
                    <a16:rowId xmlns:a16="http://schemas.microsoft.com/office/drawing/2014/main" val="3727568310"/>
                  </a:ext>
                </a:extLst>
              </a:tr>
              <a:tr h="1974805">
                <a:tc>
                  <a:txBody>
                    <a:bodyPr/>
                    <a:lstStyle/>
                    <a:p>
                      <a:r>
                        <a:rPr lang="en-GB" sz="1400" dirty="0"/>
                        <a:t>Fine-tuned LSTM-Based Model for Efficient Honeypot-Based Network Intrusion Detection System in Smart Grid Networks</a:t>
                      </a:r>
                      <a:endParaRPr lang="en-IN" sz="1400" dirty="0"/>
                    </a:p>
                  </a:txBody>
                  <a:tcPr/>
                </a:tc>
                <a:tc>
                  <a:txBody>
                    <a:bodyPr/>
                    <a:lstStyle/>
                    <a:p>
                      <a:r>
                        <a:rPr lang="en-IN" sz="1400" dirty="0"/>
                        <a:t>Abdullatif </a:t>
                      </a:r>
                      <a:r>
                        <a:rPr lang="en-IN" sz="1400" dirty="0" err="1"/>
                        <a:t>Albaseer</a:t>
                      </a:r>
                      <a:r>
                        <a:rPr lang="en-IN" sz="1400" dirty="0"/>
                        <a:t> , Mohamed Abdallah </a:t>
                      </a:r>
                    </a:p>
                  </a:txBody>
                  <a:tcPr/>
                </a:tc>
                <a:tc>
                  <a:txBody>
                    <a:bodyPr/>
                    <a:lstStyle/>
                    <a:p>
                      <a:pPr algn="ctr"/>
                      <a:r>
                        <a:rPr lang="en-IN" sz="1400" dirty="0"/>
                        <a:t>2022</a:t>
                      </a:r>
                    </a:p>
                  </a:txBody>
                  <a:tcPr/>
                </a:tc>
                <a:tc>
                  <a:txBody>
                    <a:bodyPr/>
                    <a:lstStyle/>
                    <a:p>
                      <a:pPr algn="ctr"/>
                      <a:r>
                        <a:rPr lang="en-IN" sz="1400" dirty="0"/>
                        <a:t>IEEE</a:t>
                      </a:r>
                    </a:p>
                  </a:txBody>
                  <a:tcPr/>
                </a:tc>
                <a:tc>
                  <a:txBody>
                    <a:bodyPr/>
                    <a:lstStyle/>
                    <a:p>
                      <a:r>
                        <a:rPr lang="en-GB" sz="1400" dirty="0"/>
                        <a:t>The system approach can employ just 25% of the features from each collected network packet while attaining 99.8% testing accuracy with a 13% improvement compared to the benchmarks.</a:t>
                      </a:r>
                      <a:endParaRPr lang="en-IN" sz="1400" dirty="0"/>
                    </a:p>
                  </a:txBody>
                  <a:tcPr/>
                </a:tc>
                <a:tc>
                  <a:txBody>
                    <a:bodyPr/>
                    <a:lstStyle/>
                    <a:p>
                      <a:r>
                        <a:rPr lang="en-GB" sz="1400" dirty="0"/>
                        <a:t>The reliance on honeypot-based data collection, which may not always reflect real-world attack scenarios accurately.</a:t>
                      </a:r>
                      <a:endParaRPr lang="en-IN" sz="1400" dirty="0"/>
                    </a:p>
                  </a:txBody>
                  <a:tcPr/>
                </a:tc>
                <a:extLst>
                  <a:ext uri="{0D108BD9-81ED-4DB2-BD59-A6C34878D82A}">
                    <a16:rowId xmlns:a16="http://schemas.microsoft.com/office/drawing/2014/main" val="3689549231"/>
                  </a:ext>
                </a:extLst>
              </a:tr>
            </a:tbl>
          </a:graphicData>
        </a:graphic>
      </p:graphicFrame>
    </p:spTree>
    <p:extLst>
      <p:ext uri="{BB962C8B-B14F-4D97-AF65-F5344CB8AC3E}">
        <p14:creationId xmlns:p14="http://schemas.microsoft.com/office/powerpoint/2010/main" val="4200810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2EE11-D2D6-3BF7-F42B-8B038B5875AC}"/>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25E8EB79-46BD-08E9-5A91-9FBAE3D277F8}"/>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1580FD97-4298-69A9-8808-41759CBA134A}"/>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560F6208-4246-B0EE-5B6F-A32765165225}"/>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9EAD9509-B1CF-76A2-64B9-BF4C4FE9F505}"/>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7B780C87-7971-B634-4615-C11B3148855B}"/>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F163518B-0F9B-9D8D-80F9-867BDD6D1202}"/>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A48C46CB-3803-99C8-8B61-0E76C6FBE85C}"/>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6</a:t>
            </a:fld>
            <a:endParaRPr lang="en-IN" sz="1400" b="1" dirty="0">
              <a:solidFill>
                <a:schemeClr val="tx1"/>
              </a:solidFill>
            </a:endParaRPr>
          </a:p>
        </p:txBody>
      </p:sp>
      <p:sp>
        <p:nvSpPr>
          <p:cNvPr id="5" name="Rectangle 4">
            <a:extLst>
              <a:ext uri="{FF2B5EF4-FFF2-40B4-BE49-F238E27FC236}">
                <a16:creationId xmlns:a16="http://schemas.microsoft.com/office/drawing/2014/main" id="{3ECB1907-02ED-ACA4-2E43-897E80614F38}"/>
              </a:ext>
            </a:extLst>
          </p:cNvPr>
          <p:cNvSpPr/>
          <p:nvPr/>
        </p:nvSpPr>
        <p:spPr>
          <a:xfrm>
            <a:off x="107504" y="178637"/>
            <a:ext cx="3028521" cy="523220"/>
          </a:xfrm>
          <a:prstGeom prst="rect">
            <a:avLst/>
          </a:prstGeom>
        </p:spPr>
        <p:txBody>
          <a:bodyPr wrap="none">
            <a:spAutoFit/>
          </a:bodyPr>
          <a:lstStyle/>
          <a:p>
            <a:r>
              <a:rPr lang="en-IN" sz="2800" b="1" dirty="0">
                <a:solidFill>
                  <a:schemeClr val="tx2"/>
                </a:solidFill>
                <a:cs typeface="Arial" panose="020B0604020202020204" pitchFamily="34" charset="0"/>
              </a:rPr>
              <a:t>LITERTURE SURVEY</a:t>
            </a:r>
            <a:endParaRPr lang="en-IN" sz="2800" dirty="0">
              <a:solidFill>
                <a:schemeClr val="tx2"/>
              </a:solidFill>
            </a:endParaRPr>
          </a:p>
        </p:txBody>
      </p:sp>
      <p:graphicFrame>
        <p:nvGraphicFramePr>
          <p:cNvPr id="6" name="Table 5">
            <a:extLst>
              <a:ext uri="{FF2B5EF4-FFF2-40B4-BE49-F238E27FC236}">
                <a16:creationId xmlns:a16="http://schemas.microsoft.com/office/drawing/2014/main" id="{DC64BBC3-18AE-ADFE-8B41-52A67BDCF6E1}"/>
              </a:ext>
            </a:extLst>
          </p:cNvPr>
          <p:cNvGraphicFramePr>
            <a:graphicFrameLocks noGrp="1"/>
          </p:cNvGraphicFramePr>
          <p:nvPr>
            <p:extLst>
              <p:ext uri="{D42A27DB-BD31-4B8C-83A1-F6EECF244321}">
                <p14:modId xmlns:p14="http://schemas.microsoft.com/office/powerpoint/2010/main" val="1273248969"/>
              </p:ext>
            </p:extLst>
          </p:nvPr>
        </p:nvGraphicFramePr>
        <p:xfrm>
          <a:off x="53750" y="839438"/>
          <a:ext cx="9090250" cy="5374975"/>
        </p:xfrm>
        <a:graphic>
          <a:graphicData uri="http://schemas.openxmlformats.org/drawingml/2006/table">
            <a:tbl>
              <a:tblPr firstRow="1" bandRow="1">
                <a:tableStyleId>{5C22544A-7EE6-4342-B048-85BDC9FD1C3A}</a:tableStyleId>
              </a:tblPr>
              <a:tblGrid>
                <a:gridCol w="1515042">
                  <a:extLst>
                    <a:ext uri="{9D8B030D-6E8A-4147-A177-3AD203B41FA5}">
                      <a16:colId xmlns:a16="http://schemas.microsoft.com/office/drawing/2014/main" val="2443044200"/>
                    </a:ext>
                  </a:extLst>
                </a:gridCol>
                <a:gridCol w="1515042">
                  <a:extLst>
                    <a:ext uri="{9D8B030D-6E8A-4147-A177-3AD203B41FA5}">
                      <a16:colId xmlns:a16="http://schemas.microsoft.com/office/drawing/2014/main" val="1191946194"/>
                    </a:ext>
                  </a:extLst>
                </a:gridCol>
                <a:gridCol w="1085783">
                  <a:extLst>
                    <a:ext uri="{9D8B030D-6E8A-4147-A177-3AD203B41FA5}">
                      <a16:colId xmlns:a16="http://schemas.microsoft.com/office/drawing/2014/main" val="3104934050"/>
                    </a:ext>
                  </a:extLst>
                </a:gridCol>
                <a:gridCol w="1398155">
                  <a:extLst>
                    <a:ext uri="{9D8B030D-6E8A-4147-A177-3AD203B41FA5}">
                      <a16:colId xmlns:a16="http://schemas.microsoft.com/office/drawing/2014/main" val="2995284924"/>
                    </a:ext>
                  </a:extLst>
                </a:gridCol>
                <a:gridCol w="2158556">
                  <a:extLst>
                    <a:ext uri="{9D8B030D-6E8A-4147-A177-3AD203B41FA5}">
                      <a16:colId xmlns:a16="http://schemas.microsoft.com/office/drawing/2014/main" val="3563753215"/>
                    </a:ext>
                  </a:extLst>
                </a:gridCol>
                <a:gridCol w="1417672">
                  <a:extLst>
                    <a:ext uri="{9D8B030D-6E8A-4147-A177-3AD203B41FA5}">
                      <a16:colId xmlns:a16="http://schemas.microsoft.com/office/drawing/2014/main" val="1114772309"/>
                    </a:ext>
                  </a:extLst>
                </a:gridCol>
              </a:tblGrid>
              <a:tr h="779066">
                <a:tc>
                  <a:txBody>
                    <a:bodyPr/>
                    <a:lstStyle/>
                    <a:p>
                      <a:pPr lvl="0" algn="ctr"/>
                      <a:r>
                        <a:rPr lang="en-IN" sz="1400" dirty="0"/>
                        <a:t>Title</a:t>
                      </a:r>
                      <a:r>
                        <a:rPr lang="en-IN" dirty="0"/>
                        <a:t> </a:t>
                      </a:r>
                    </a:p>
                  </a:txBody>
                  <a:tcPr anchor="ctr"/>
                </a:tc>
                <a:tc>
                  <a:txBody>
                    <a:bodyPr/>
                    <a:lstStyle/>
                    <a:p>
                      <a:pPr lvl="0" algn="ctr"/>
                      <a:r>
                        <a:rPr lang="en-IN" sz="1400" dirty="0"/>
                        <a:t>Author</a:t>
                      </a:r>
                    </a:p>
                  </a:txBody>
                  <a:tcPr anchor="ctr"/>
                </a:tc>
                <a:tc>
                  <a:txBody>
                    <a:bodyPr/>
                    <a:lstStyle/>
                    <a:p>
                      <a:r>
                        <a:rPr lang="en-IN" sz="1400" dirty="0"/>
                        <a:t>Year of Publication</a:t>
                      </a:r>
                    </a:p>
                  </a:txBody>
                  <a:tcPr anchor="ctr"/>
                </a:tc>
                <a:tc>
                  <a:txBody>
                    <a:bodyPr/>
                    <a:lstStyle/>
                    <a:p>
                      <a:pPr algn="ctr"/>
                      <a:r>
                        <a:rPr lang="en-IN" sz="1400" dirty="0"/>
                        <a:t>Journal Name</a:t>
                      </a:r>
                    </a:p>
                  </a:txBody>
                  <a:tcPr anchor="ctr"/>
                </a:tc>
                <a:tc>
                  <a:txBody>
                    <a:bodyPr/>
                    <a:lstStyle/>
                    <a:p>
                      <a:pPr algn="ctr"/>
                      <a:r>
                        <a:rPr lang="en-IN" sz="1400" dirty="0"/>
                        <a:t>Description</a:t>
                      </a:r>
                    </a:p>
                  </a:txBody>
                  <a:tcPr anchor="ctr"/>
                </a:tc>
                <a:tc>
                  <a:txBody>
                    <a:bodyPr/>
                    <a:lstStyle/>
                    <a:p>
                      <a:pPr algn="ctr"/>
                      <a:r>
                        <a:rPr lang="en-IN" sz="1400" dirty="0"/>
                        <a:t>Limitation</a:t>
                      </a:r>
                    </a:p>
                  </a:txBody>
                  <a:tcPr anchor="ctr"/>
                </a:tc>
                <a:extLst>
                  <a:ext uri="{0D108BD9-81ED-4DB2-BD59-A6C34878D82A}">
                    <a16:rowId xmlns:a16="http://schemas.microsoft.com/office/drawing/2014/main" val="4106277421"/>
                  </a:ext>
                </a:extLst>
              </a:tr>
              <a:tr h="2370869">
                <a:tc>
                  <a:txBody>
                    <a:bodyPr/>
                    <a:lstStyle/>
                    <a:p>
                      <a:pPr algn="l"/>
                      <a:r>
                        <a:rPr lang="en-GB" sz="1400" dirty="0"/>
                        <a:t>Containerized cloud‑based</a:t>
                      </a:r>
                    </a:p>
                    <a:p>
                      <a:pPr algn="l"/>
                      <a:r>
                        <a:rPr lang="en-GB" sz="1400" dirty="0"/>
                        <a:t>honeypot deception for tracking</a:t>
                      </a:r>
                    </a:p>
                    <a:p>
                      <a:pPr algn="l"/>
                      <a:r>
                        <a:rPr lang="en-GB" sz="1400" dirty="0"/>
                        <a:t>attackers</a:t>
                      </a:r>
                      <a:endParaRPr lang="en-IN" sz="1400" dirty="0"/>
                    </a:p>
                  </a:txBody>
                  <a:tcPr/>
                </a:tc>
                <a:tc>
                  <a:txBody>
                    <a:bodyPr/>
                    <a:lstStyle/>
                    <a:p>
                      <a:r>
                        <a:rPr lang="fi-FI" sz="1400" dirty="0"/>
                        <a:t>V. S. Devi Priya &amp; S. Sibi Chakkaravarthy</a:t>
                      </a:r>
                      <a:endParaRPr lang="en-IN" sz="1400" dirty="0"/>
                    </a:p>
                  </a:txBody>
                  <a:tcPr/>
                </a:tc>
                <a:tc>
                  <a:txBody>
                    <a:bodyPr/>
                    <a:lstStyle/>
                    <a:p>
                      <a:pPr algn="ctr"/>
                      <a:r>
                        <a:rPr lang="en-IN" sz="1400" dirty="0"/>
                        <a:t>2022</a:t>
                      </a:r>
                    </a:p>
                  </a:txBody>
                  <a:tcPr/>
                </a:tc>
                <a:tc>
                  <a:txBody>
                    <a:bodyPr/>
                    <a:lstStyle/>
                    <a:p>
                      <a:pPr algn="ctr"/>
                      <a:r>
                        <a:rPr lang="en-IN" sz="1400" dirty="0"/>
                        <a:t>Scientific reports</a:t>
                      </a:r>
                    </a:p>
                  </a:txBody>
                  <a:tcPr/>
                </a:tc>
                <a:tc>
                  <a:txBody>
                    <a:bodyPr/>
                    <a:lstStyle/>
                    <a:p>
                      <a:pPr algn="l"/>
                      <a:r>
                        <a:rPr lang="en-GB" sz="1400" dirty="0"/>
                        <a:t>The system ensures easy deployment, scalability, and resource efficiency. The experiment provided insights into attack trends, including Distributed Denial-of-Service (DDoS) patterns, malicious URLs, and attacker IPs</a:t>
                      </a:r>
                      <a:endParaRPr lang="en-IN" sz="1400" dirty="0"/>
                    </a:p>
                  </a:txBody>
                  <a:tcPr/>
                </a:tc>
                <a:tc>
                  <a:txBody>
                    <a:bodyPr/>
                    <a:lstStyle/>
                    <a:p>
                      <a:pPr algn="l"/>
                      <a:r>
                        <a:rPr lang="en-GB" sz="1400" dirty="0"/>
                        <a:t>Honeypots were deployed in the cloud, attackers could potentially identify them as decoy systems, reducing the effectiveness of deception.</a:t>
                      </a:r>
                      <a:endParaRPr lang="en-IN" sz="1400" dirty="0"/>
                    </a:p>
                  </a:txBody>
                  <a:tcPr/>
                </a:tc>
                <a:extLst>
                  <a:ext uri="{0D108BD9-81ED-4DB2-BD59-A6C34878D82A}">
                    <a16:rowId xmlns:a16="http://schemas.microsoft.com/office/drawing/2014/main" val="3727568310"/>
                  </a:ext>
                </a:extLst>
              </a:tr>
              <a:tr h="1974805">
                <a:tc>
                  <a:txBody>
                    <a:bodyPr/>
                    <a:lstStyle/>
                    <a:p>
                      <a:r>
                        <a:rPr lang="en-GB" sz="1400" dirty="0"/>
                        <a:t>A Novel AI-based Methodology for Identifying Cyber Attacks in Honey Pots</a:t>
                      </a:r>
                    </a:p>
                  </a:txBody>
                  <a:tcPr/>
                </a:tc>
                <a:tc>
                  <a:txBody>
                    <a:bodyPr/>
                    <a:lstStyle/>
                    <a:p>
                      <a:r>
                        <a:rPr lang="fi-FI" sz="1400" dirty="0"/>
                        <a:t>Muhammed AbuOdeh,</a:t>
                      </a:r>
                    </a:p>
                    <a:p>
                      <a:r>
                        <a:rPr lang="fi-FI" sz="1400" dirty="0"/>
                        <a:t>Christian Adkins,</a:t>
                      </a:r>
                    </a:p>
                    <a:p>
                      <a:r>
                        <a:rPr lang="fi-FI" sz="1400" dirty="0"/>
                        <a:t>Omid Setayeshfar,</a:t>
                      </a:r>
                    </a:p>
                    <a:p>
                      <a:r>
                        <a:rPr lang="fi-FI" sz="1400" dirty="0"/>
                        <a:t>Prashant Doshi,</a:t>
                      </a:r>
                    </a:p>
                    <a:p>
                      <a:r>
                        <a:rPr lang="fi-FI" sz="1400" dirty="0"/>
                        <a:t>Kyu H. Lee</a:t>
                      </a:r>
                      <a:endParaRPr lang="en-IN" sz="1400" dirty="0"/>
                    </a:p>
                  </a:txBody>
                  <a:tcPr/>
                </a:tc>
                <a:tc>
                  <a:txBody>
                    <a:bodyPr/>
                    <a:lstStyle/>
                    <a:p>
                      <a:pPr algn="ctr"/>
                      <a:r>
                        <a:rPr lang="en-IN" sz="1400" dirty="0"/>
                        <a:t>2021</a:t>
                      </a:r>
                    </a:p>
                  </a:txBody>
                  <a:tcPr/>
                </a:tc>
                <a:tc>
                  <a:txBody>
                    <a:bodyPr/>
                    <a:lstStyle/>
                    <a:p>
                      <a:pPr algn="ctr"/>
                      <a:r>
                        <a:rPr lang="en-IN" sz="1400" dirty="0"/>
                        <a:t>AAAI Digital Library</a:t>
                      </a:r>
                    </a:p>
                  </a:txBody>
                  <a:tcPr/>
                </a:tc>
                <a:tc>
                  <a:txBody>
                    <a:bodyPr/>
                    <a:lstStyle/>
                    <a:p>
                      <a:r>
                        <a:rPr lang="en-GB" sz="1400" dirty="0"/>
                        <a:t>The approach involves preprocessing system events from audit logs, inferring attack sequences (storylines) using a probabilistic model, and classifying them into specific attack phases with a machine learning classifier</a:t>
                      </a:r>
                    </a:p>
                  </a:txBody>
                  <a:tcPr/>
                </a:tc>
                <a:tc>
                  <a:txBody>
                    <a:bodyPr/>
                    <a:lstStyle/>
                    <a:p>
                      <a:r>
                        <a:rPr lang="en-GB" sz="1400" dirty="0"/>
                        <a:t>It requires training data for each attack phase, making it less effective for detecting previously unseen attack patterns.</a:t>
                      </a:r>
                      <a:endParaRPr lang="en-IN" sz="1400" dirty="0"/>
                    </a:p>
                  </a:txBody>
                  <a:tcPr/>
                </a:tc>
                <a:extLst>
                  <a:ext uri="{0D108BD9-81ED-4DB2-BD59-A6C34878D82A}">
                    <a16:rowId xmlns:a16="http://schemas.microsoft.com/office/drawing/2014/main" val="3689549231"/>
                  </a:ext>
                </a:extLst>
              </a:tr>
            </a:tbl>
          </a:graphicData>
        </a:graphic>
      </p:graphicFrame>
    </p:spTree>
    <p:extLst>
      <p:ext uri="{BB962C8B-B14F-4D97-AF65-F5344CB8AC3E}">
        <p14:creationId xmlns:p14="http://schemas.microsoft.com/office/powerpoint/2010/main" val="384810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32EAC-3447-5F3B-4283-A8789C51DFCD}"/>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4A4130DE-0555-BCAA-3E1F-0E219D8807DD}"/>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63755674-5F1C-0E39-759E-9CEA459CF3F5}"/>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E6DFF826-4FF0-8D9D-5410-22D2558D9A3A}"/>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B8D902AE-7F4C-974E-2C12-18375B115A60}"/>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C1C07D1E-B2A2-E92F-369A-D6332687252D}"/>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A560E3F0-7CA0-78BC-2575-4D3FC4C76072}"/>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9D50EC1F-6E86-F929-011C-7A5F09B8DAD6}"/>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7</a:t>
            </a:fld>
            <a:endParaRPr lang="en-IN" sz="1400" b="1" dirty="0">
              <a:solidFill>
                <a:schemeClr val="tx1"/>
              </a:solidFill>
            </a:endParaRPr>
          </a:p>
        </p:txBody>
      </p:sp>
      <p:sp>
        <p:nvSpPr>
          <p:cNvPr id="5" name="Rectangle 4">
            <a:extLst>
              <a:ext uri="{FF2B5EF4-FFF2-40B4-BE49-F238E27FC236}">
                <a16:creationId xmlns:a16="http://schemas.microsoft.com/office/drawing/2014/main" id="{360F2F6D-331C-F8B4-0645-3008A685B5C2}"/>
              </a:ext>
            </a:extLst>
          </p:cNvPr>
          <p:cNvSpPr/>
          <p:nvPr/>
        </p:nvSpPr>
        <p:spPr>
          <a:xfrm>
            <a:off x="0" y="254238"/>
            <a:ext cx="1979388" cy="523220"/>
          </a:xfrm>
          <a:prstGeom prst="rect">
            <a:avLst/>
          </a:prstGeom>
        </p:spPr>
        <p:txBody>
          <a:bodyPr wrap="none">
            <a:spAutoFit/>
          </a:bodyPr>
          <a:lstStyle/>
          <a:p>
            <a:r>
              <a:rPr lang="en-US" sz="2800" b="1" dirty="0">
                <a:solidFill>
                  <a:srgbClr val="C00000"/>
                </a:solidFill>
                <a:cs typeface="Arial" panose="020B0604020202020204" pitchFamily="34" charset="0"/>
              </a:rPr>
              <a:t>BASE PAPER</a:t>
            </a:r>
            <a:endParaRPr lang="en-IN" sz="2800" dirty="0">
              <a:solidFill>
                <a:srgbClr val="C00000"/>
              </a:solidFill>
            </a:endParaRPr>
          </a:p>
        </p:txBody>
      </p:sp>
      <p:sp>
        <p:nvSpPr>
          <p:cNvPr id="6" name="TextBox 5">
            <a:extLst>
              <a:ext uri="{FF2B5EF4-FFF2-40B4-BE49-F238E27FC236}">
                <a16:creationId xmlns:a16="http://schemas.microsoft.com/office/drawing/2014/main" id="{E73BA85C-AA7B-6832-4E1B-E066FBACF13D}"/>
              </a:ext>
            </a:extLst>
          </p:cNvPr>
          <p:cNvSpPr txBox="1"/>
          <p:nvPr/>
        </p:nvSpPr>
        <p:spPr>
          <a:xfrm>
            <a:off x="139147" y="889863"/>
            <a:ext cx="8865705" cy="5312352"/>
          </a:xfrm>
          <a:prstGeom prst="rect">
            <a:avLst/>
          </a:prstGeom>
          <a:noFill/>
        </p:spPr>
        <p:txBody>
          <a:bodyPr wrap="square" rtlCol="0">
            <a:spAutoFit/>
          </a:bodyPr>
          <a:lstStyle/>
          <a:p>
            <a:endParaRPr lang="en-GB" dirty="0"/>
          </a:p>
          <a:p>
            <a:r>
              <a:rPr lang="en-GB" b="1" dirty="0"/>
              <a:t>TITLE : </a:t>
            </a:r>
            <a:r>
              <a:rPr lang="en-GB" sz="1800" b="1" dirty="0"/>
              <a:t>Utilizing virtualized honeypots for threat hunting, malware analysis,</a:t>
            </a:r>
          </a:p>
          <a:p>
            <a:r>
              <a:rPr lang="en-GB" sz="1800" b="1" dirty="0"/>
              <a:t>and reporting</a:t>
            </a:r>
            <a:endParaRPr lang="en-IN" sz="1800" b="1" dirty="0"/>
          </a:p>
          <a:p>
            <a:endParaRPr lang="en-GB" b="1" dirty="0"/>
          </a:p>
          <a:p>
            <a:endParaRPr lang="en-GB" dirty="0"/>
          </a:p>
          <a:p>
            <a:r>
              <a:rPr lang="en-GB" b="1" dirty="0"/>
              <a:t>YEAR : 2024</a:t>
            </a:r>
          </a:p>
          <a:p>
            <a:endParaRPr lang="en-GB" dirty="0"/>
          </a:p>
          <a:p>
            <a:pPr algn="just">
              <a:lnSpc>
                <a:spcPct val="150000"/>
              </a:lnSpc>
            </a:pPr>
            <a:r>
              <a:rPr lang="en-GB" dirty="0"/>
              <a:t>Utilizing Virtualized Honeypots for Threat Hunting, Malware Analysis, and Reporting explores the deployment of a portable, virtualized honeypot on a university network to </a:t>
            </a:r>
            <a:r>
              <a:rPr lang="en-GB" dirty="0" err="1"/>
              <a:t>analyze</a:t>
            </a:r>
            <a:r>
              <a:rPr lang="en-GB" dirty="0"/>
              <a:t> real-time cyber threats. By integrating Security Information and Event Management (SIEM) with Elastic Stack, the researchers captured attacker </a:t>
            </a:r>
            <a:r>
              <a:rPr lang="en-GB" dirty="0" err="1"/>
              <a:t>behavior</a:t>
            </a:r>
            <a:r>
              <a:rPr lang="en-GB" dirty="0"/>
              <a:t>, identified malware, and </a:t>
            </a:r>
            <a:r>
              <a:rPr lang="en-GB" dirty="0" err="1"/>
              <a:t>analyzed</a:t>
            </a:r>
            <a:r>
              <a:rPr lang="en-GB" dirty="0"/>
              <a:t> threat actor tactics, techniques, and procedures (TTPs). The honeypot successfully detected and </a:t>
            </a:r>
            <a:r>
              <a:rPr lang="en-GB" dirty="0" err="1"/>
              <a:t>analyzed</a:t>
            </a:r>
            <a:r>
              <a:rPr lang="en-GB" dirty="0"/>
              <a:t> various cyber threats, including ransomware, brute-force attacks, and privilege escalation exploits, contributing to cybersecurity intelligence and proactive </a:t>
            </a:r>
            <a:r>
              <a:rPr lang="en-GB" dirty="0" err="1"/>
              <a:t>defense</a:t>
            </a:r>
            <a:r>
              <a:rPr lang="en-GB" dirty="0"/>
              <a:t> strategies.</a:t>
            </a:r>
            <a:endParaRPr lang="en-IN" dirty="0"/>
          </a:p>
        </p:txBody>
      </p:sp>
    </p:spTree>
    <p:extLst>
      <p:ext uri="{BB962C8B-B14F-4D97-AF65-F5344CB8AC3E}">
        <p14:creationId xmlns:p14="http://schemas.microsoft.com/office/powerpoint/2010/main" val="3138234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5E22E-39C3-FC54-2EE3-51C0F33C799C}"/>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4C615C72-1151-6371-790C-E6951D51A53D}"/>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B7991B67-BE88-A970-E624-BD407485AB8A}"/>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16435AB4-A901-F80F-C2D6-7A627DB7713E}"/>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2418F87E-C68C-7A9B-1EFD-B79A8ECA1F91}"/>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919DE74F-F003-9742-2C10-D7D74B445365}"/>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201E6FA2-C0D0-4F7F-7CA8-429268A4E740}"/>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C994B20B-4032-78EF-2BDD-B26B3DAF8DB8}"/>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8</a:t>
            </a:fld>
            <a:endParaRPr lang="en-IN" sz="1400" b="1" dirty="0">
              <a:solidFill>
                <a:schemeClr val="tx1"/>
              </a:solidFill>
            </a:endParaRPr>
          </a:p>
        </p:txBody>
      </p:sp>
      <p:sp>
        <p:nvSpPr>
          <p:cNvPr id="5" name="Rectangle 4">
            <a:extLst>
              <a:ext uri="{FF2B5EF4-FFF2-40B4-BE49-F238E27FC236}">
                <a16:creationId xmlns:a16="http://schemas.microsoft.com/office/drawing/2014/main" id="{FD03ADE1-EB5C-FD5F-C14C-DE6E1CF8CDB1}"/>
              </a:ext>
            </a:extLst>
          </p:cNvPr>
          <p:cNvSpPr/>
          <p:nvPr/>
        </p:nvSpPr>
        <p:spPr>
          <a:xfrm>
            <a:off x="-32" y="210491"/>
            <a:ext cx="3411190" cy="523220"/>
          </a:xfrm>
          <a:prstGeom prst="rect">
            <a:avLst/>
          </a:prstGeom>
        </p:spPr>
        <p:txBody>
          <a:bodyPr wrap="none">
            <a:spAutoFit/>
          </a:bodyPr>
          <a:lstStyle/>
          <a:p>
            <a:r>
              <a:rPr lang="en-IN" sz="2800" b="1" dirty="0">
                <a:solidFill>
                  <a:srgbClr val="C00000"/>
                </a:solidFill>
                <a:cs typeface="Arial" panose="020B0604020202020204" pitchFamily="34" charset="0"/>
              </a:rPr>
              <a:t>PROBLEM IDENTIFIED</a:t>
            </a:r>
            <a:endParaRPr lang="en-IN" sz="2800" dirty="0">
              <a:solidFill>
                <a:srgbClr val="C00000"/>
              </a:solidFill>
            </a:endParaRPr>
          </a:p>
        </p:txBody>
      </p:sp>
      <p:sp>
        <p:nvSpPr>
          <p:cNvPr id="6" name="TextBox 5">
            <a:extLst>
              <a:ext uri="{FF2B5EF4-FFF2-40B4-BE49-F238E27FC236}">
                <a16:creationId xmlns:a16="http://schemas.microsoft.com/office/drawing/2014/main" id="{56C1BF12-8362-C969-66E5-B4515B94DCE2}"/>
              </a:ext>
            </a:extLst>
          </p:cNvPr>
          <p:cNvSpPr txBox="1"/>
          <p:nvPr/>
        </p:nvSpPr>
        <p:spPr>
          <a:xfrm>
            <a:off x="118872" y="889863"/>
            <a:ext cx="8860536" cy="519398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IN" b="1" dirty="0"/>
              <a:t>Detection by Attackers </a:t>
            </a:r>
            <a:r>
              <a:rPr lang="en-IN" dirty="0"/>
              <a:t>: </a:t>
            </a:r>
            <a:r>
              <a:rPr lang="en-GB" dirty="0"/>
              <a:t>Attackers may recognize your honeypot and avoid interacting with it</a:t>
            </a:r>
          </a:p>
          <a:p>
            <a:pPr marL="285750" indent="-285750" algn="just">
              <a:buFont typeface="Wingdings" panose="05000000000000000000" pitchFamily="2" charset="2"/>
              <a:buChar char="Ø"/>
            </a:pPr>
            <a:endParaRPr lang="en-GB" b="1" dirty="0"/>
          </a:p>
          <a:p>
            <a:pPr marL="285750" indent="-285750" algn="just">
              <a:buFont typeface="Wingdings" panose="05000000000000000000" pitchFamily="2" charset="2"/>
              <a:buChar char="Ø"/>
            </a:pPr>
            <a:r>
              <a:rPr lang="en-GB" b="1" dirty="0"/>
              <a:t>False Positives</a:t>
            </a:r>
            <a:r>
              <a:rPr lang="en-GB" dirty="0"/>
              <a:t>: Non-malicious users or automated scanners (like search engine bots) may trigger alerts.</a:t>
            </a:r>
          </a:p>
          <a:p>
            <a:pPr marL="285750" indent="-285750" algn="just">
              <a:buFont typeface="Wingdings" panose="05000000000000000000" pitchFamily="2" charset="2"/>
              <a:buChar char="Ø"/>
            </a:pPr>
            <a:endParaRPr lang="en-GB" b="1" dirty="0"/>
          </a:p>
          <a:p>
            <a:pPr marL="285750" indent="-285750" algn="just">
              <a:buFont typeface="Wingdings" panose="05000000000000000000" pitchFamily="2" charset="2"/>
              <a:buChar char="Ø"/>
            </a:pPr>
            <a:r>
              <a:rPr lang="en-GB" b="1" dirty="0"/>
              <a:t>Insufficient Logging &amp; Monitoring :</a:t>
            </a:r>
            <a:r>
              <a:rPr lang="en-GB" dirty="0"/>
              <a:t>Not capturing enough data to </a:t>
            </a:r>
            <a:r>
              <a:rPr lang="en-GB" dirty="0" err="1"/>
              <a:t>analyze</a:t>
            </a:r>
            <a:r>
              <a:rPr lang="en-GB" dirty="0"/>
              <a:t> attacker </a:t>
            </a:r>
            <a:r>
              <a:rPr lang="en-GB" dirty="0" err="1"/>
              <a:t>behavior</a:t>
            </a:r>
            <a:r>
              <a:rPr lang="en-GB" dirty="0"/>
              <a:t>.</a:t>
            </a:r>
          </a:p>
          <a:p>
            <a:pPr marL="285750" indent="-285750" algn="just">
              <a:buFont typeface="Wingdings" panose="05000000000000000000" pitchFamily="2" charset="2"/>
              <a:buChar char="Ø"/>
            </a:pPr>
            <a:endParaRPr lang="en-GB" b="1" dirty="0"/>
          </a:p>
          <a:p>
            <a:pPr marL="285750" indent="-285750" algn="just">
              <a:buFont typeface="Wingdings" panose="05000000000000000000" pitchFamily="2" charset="2"/>
              <a:buChar char="Ø"/>
            </a:pPr>
            <a:r>
              <a:rPr lang="en-GB" b="1" dirty="0"/>
              <a:t>Performance Issues</a:t>
            </a:r>
            <a:r>
              <a:rPr lang="en-GB" dirty="0"/>
              <a:t>: If the honeypot is poorly optimized, it may slow down or crash under heavy traffic.</a:t>
            </a:r>
          </a:p>
          <a:p>
            <a:pPr marL="285750" indent="-285750" algn="just">
              <a:buFont typeface="Wingdings" panose="05000000000000000000" pitchFamily="2" charset="2"/>
              <a:buChar char="Ø"/>
            </a:pPr>
            <a:endParaRPr lang="en-GB" b="1" dirty="0"/>
          </a:p>
          <a:p>
            <a:pPr marL="285750" indent="-285750" algn="just">
              <a:buFont typeface="Wingdings" panose="05000000000000000000" pitchFamily="2" charset="2"/>
              <a:buChar char="Ø"/>
            </a:pPr>
            <a:r>
              <a:rPr lang="en-GB" b="1" dirty="0"/>
              <a:t>Lack of Real-Time </a:t>
            </a:r>
            <a:r>
              <a:rPr lang="en-GB" b="1" dirty="0" err="1"/>
              <a:t>Alerts:</a:t>
            </a:r>
            <a:r>
              <a:rPr lang="en-GB" dirty="0" err="1"/>
              <a:t>No</a:t>
            </a:r>
            <a:r>
              <a:rPr lang="en-GB" dirty="0"/>
              <a:t> instant notifications when an attacker interacts with the honeypot.</a:t>
            </a:r>
          </a:p>
          <a:p>
            <a:pPr marL="285750" indent="-285750">
              <a:buFont typeface="Wingdings" panose="05000000000000000000" pitchFamily="2" charset="2"/>
              <a:buChar char="Ø"/>
            </a:pPr>
            <a:endParaRPr lang="en-GB" sz="1600" dirty="0"/>
          </a:p>
          <a:p>
            <a:pPr algn="just">
              <a:lnSpc>
                <a:spcPct val="150000"/>
              </a:lnSpc>
            </a:pPr>
            <a:endParaRPr lang="en-GB" sz="1600" dirty="0"/>
          </a:p>
          <a:p>
            <a:pPr indent="457200" algn="just">
              <a:lnSpc>
                <a:spcPct val="150000"/>
              </a:lnSpc>
            </a:pPr>
            <a:endParaRPr lang="en-GB" sz="1600" dirty="0"/>
          </a:p>
        </p:txBody>
      </p:sp>
    </p:spTree>
    <p:extLst>
      <p:ext uri="{BB962C8B-B14F-4D97-AF65-F5344CB8AC3E}">
        <p14:creationId xmlns:p14="http://schemas.microsoft.com/office/powerpoint/2010/main" val="1567227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Logo"/>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C54C04E4-D790-42A3-8C76-2D46558D9922}"/>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9</a:t>
            </a:fld>
            <a:endParaRPr lang="en-IN" sz="1400" b="1" dirty="0">
              <a:solidFill>
                <a:schemeClr val="tx1"/>
              </a:solidFill>
            </a:endParaRPr>
          </a:p>
        </p:txBody>
      </p:sp>
      <p:sp>
        <p:nvSpPr>
          <p:cNvPr id="5" name="Rectangle 4"/>
          <p:cNvSpPr/>
          <p:nvPr/>
        </p:nvSpPr>
        <p:spPr>
          <a:xfrm>
            <a:off x="0" y="226855"/>
            <a:ext cx="1769715" cy="523220"/>
          </a:xfrm>
          <a:prstGeom prst="rect">
            <a:avLst/>
          </a:prstGeom>
        </p:spPr>
        <p:txBody>
          <a:bodyPr wrap="none">
            <a:spAutoFit/>
          </a:bodyPr>
          <a:lstStyle/>
          <a:p>
            <a:r>
              <a:rPr lang="en-IN" sz="2800" b="1" dirty="0">
                <a:solidFill>
                  <a:srgbClr val="17375E"/>
                </a:solidFill>
                <a:cs typeface="Arial" panose="020B0604020202020204" pitchFamily="34" charset="0"/>
              </a:rPr>
              <a:t>OBJECTIVE</a:t>
            </a:r>
            <a:endParaRPr lang="en-IN" sz="2800" dirty="0">
              <a:solidFill>
                <a:srgbClr val="17375E"/>
              </a:solidFill>
            </a:endParaRPr>
          </a:p>
        </p:txBody>
      </p:sp>
      <p:sp>
        <p:nvSpPr>
          <p:cNvPr id="17" name="Rectangle 6">
            <a:extLst>
              <a:ext uri="{FF2B5EF4-FFF2-40B4-BE49-F238E27FC236}">
                <a16:creationId xmlns:a16="http://schemas.microsoft.com/office/drawing/2014/main" id="{080BC631-7840-0656-321A-A02F1DAA0A4B}"/>
              </a:ext>
            </a:extLst>
          </p:cNvPr>
          <p:cNvSpPr>
            <a:spLocks noChangeArrowheads="1"/>
          </p:cNvSpPr>
          <p:nvPr/>
        </p:nvSpPr>
        <p:spPr bwMode="auto">
          <a:xfrm>
            <a:off x="146304" y="889863"/>
            <a:ext cx="8860536" cy="4716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GB" b="1" dirty="0"/>
              <a:t>Threat Detection and Analysis : </a:t>
            </a:r>
            <a:r>
              <a:rPr lang="en-GB" dirty="0"/>
              <a:t>Monitor and identify new attack patterns and malicious activities in real-time.</a:t>
            </a:r>
          </a:p>
          <a:p>
            <a:pPr marL="285750" indent="-285750" algn="just">
              <a:lnSpc>
                <a:spcPct val="150000"/>
              </a:lnSpc>
              <a:buFont typeface="Wingdings" panose="05000000000000000000" pitchFamily="2" charset="2"/>
              <a:buChar char="Ø"/>
            </a:pPr>
            <a:endParaRPr lang="en-GB" dirty="0"/>
          </a:p>
          <a:p>
            <a:pPr marL="285750" indent="-285750" algn="just">
              <a:lnSpc>
                <a:spcPct val="150000"/>
              </a:lnSpc>
              <a:buFont typeface="Wingdings" panose="05000000000000000000" pitchFamily="2" charset="2"/>
              <a:buChar char="Ø"/>
            </a:pPr>
            <a:r>
              <a:rPr lang="en-IN" b="1" dirty="0"/>
              <a:t>Network Security Enhancement : </a:t>
            </a:r>
            <a:r>
              <a:rPr lang="en-GB" dirty="0"/>
              <a:t>Early warning system for potential security breaches</a:t>
            </a:r>
            <a:r>
              <a:rPr lang="en-IN" dirty="0"/>
              <a:t>.</a:t>
            </a:r>
          </a:p>
          <a:p>
            <a:pPr marL="285750" indent="-285750" algn="just">
              <a:lnSpc>
                <a:spcPct val="150000"/>
              </a:lnSpc>
              <a:buFont typeface="Wingdings" panose="05000000000000000000" pitchFamily="2" charset="2"/>
              <a:buChar char="Ø"/>
            </a:pPr>
            <a:endParaRPr lang="en-IN" dirty="0"/>
          </a:p>
          <a:p>
            <a:pPr marL="285750" indent="-285750" algn="just">
              <a:lnSpc>
                <a:spcPct val="150000"/>
              </a:lnSpc>
              <a:buFont typeface="Wingdings" panose="05000000000000000000" pitchFamily="2" charset="2"/>
              <a:buChar char="Ø"/>
            </a:pPr>
            <a:r>
              <a:rPr lang="en-IN" b="1" dirty="0"/>
              <a:t>Research and Intelligence Gathering </a:t>
            </a:r>
            <a:r>
              <a:rPr lang="en-IN" dirty="0"/>
              <a:t>: </a:t>
            </a:r>
            <a:r>
              <a:rPr lang="en-GB" dirty="0"/>
              <a:t>Document new malware strains and their </a:t>
            </a:r>
            <a:r>
              <a:rPr lang="en-GB" dirty="0" err="1"/>
              <a:t>behaviors</a:t>
            </a:r>
            <a:r>
              <a:rPr lang="en-GB" dirty="0"/>
              <a:t>.</a:t>
            </a:r>
          </a:p>
          <a:p>
            <a:pPr marL="285750" indent="-285750" algn="just">
              <a:lnSpc>
                <a:spcPct val="150000"/>
              </a:lnSpc>
              <a:buFont typeface="Wingdings" panose="05000000000000000000" pitchFamily="2" charset="2"/>
              <a:buChar char="Ø"/>
            </a:pPr>
            <a:endParaRPr lang="en-GB" dirty="0"/>
          </a:p>
          <a:p>
            <a:pPr marL="285750" indent="-285750" algn="just">
              <a:lnSpc>
                <a:spcPct val="150000"/>
              </a:lnSpc>
              <a:buFont typeface="Wingdings" panose="05000000000000000000" pitchFamily="2" charset="2"/>
              <a:buChar char="Ø"/>
            </a:pPr>
            <a:r>
              <a:rPr lang="en-IN" b="1" dirty="0" err="1"/>
              <a:t>Defense</a:t>
            </a:r>
            <a:r>
              <a:rPr lang="en-IN" b="1" dirty="0"/>
              <a:t> Improvement</a:t>
            </a:r>
            <a:r>
              <a:rPr lang="en-GB" b="1" dirty="0"/>
              <a:t> : </a:t>
            </a:r>
            <a:r>
              <a:rPr lang="en-GB" dirty="0"/>
              <a:t>Identify vulnerabilities in network architecture and systems.</a:t>
            </a:r>
          </a:p>
          <a:p>
            <a:pPr marL="285750" indent="-285750" algn="just">
              <a:lnSpc>
                <a:spcPct val="150000"/>
              </a:lnSpc>
              <a:buFont typeface="Wingdings" panose="05000000000000000000" pitchFamily="2" charset="2"/>
              <a:buChar char="Ø"/>
            </a:pPr>
            <a:endParaRPr lang="en-GB" dirty="0"/>
          </a:p>
          <a:p>
            <a:pPr marL="285750" indent="-285750" algn="just">
              <a:lnSpc>
                <a:spcPct val="150000"/>
              </a:lnSpc>
              <a:buFont typeface="Wingdings" panose="05000000000000000000" pitchFamily="2" charset="2"/>
              <a:buChar char="Ø"/>
            </a:pPr>
            <a:r>
              <a:rPr lang="en-IN" b="1" dirty="0"/>
              <a:t>Attacker Deception</a:t>
            </a:r>
            <a:r>
              <a:rPr lang="en-GB" b="1" dirty="0"/>
              <a:t> : </a:t>
            </a:r>
            <a:r>
              <a:rPr lang="en-GB" dirty="0"/>
              <a:t>Create convincing decoy systems to trap and observe attackers.</a:t>
            </a:r>
            <a:endParaRPr lang="en-IN" dirty="0"/>
          </a:p>
          <a:p>
            <a:pPr algn="just">
              <a:lnSpc>
                <a:spcPct val="150000"/>
              </a:lnSpc>
            </a:pPr>
            <a:endParaRPr lang="en-US" sz="1600" dirty="0"/>
          </a:p>
        </p:txBody>
      </p:sp>
    </p:spTree>
    <p:extLst>
      <p:ext uri="{BB962C8B-B14F-4D97-AF65-F5344CB8AC3E}">
        <p14:creationId xmlns:p14="http://schemas.microsoft.com/office/powerpoint/2010/main" val="4210332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Logo"/>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C54C04E4-D790-42A3-8C76-2D46558D9922}"/>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10</a:t>
            </a:fld>
            <a:endParaRPr lang="en-IN" sz="1400" b="1" dirty="0">
              <a:solidFill>
                <a:schemeClr val="tx1"/>
              </a:solidFill>
            </a:endParaRPr>
          </a:p>
        </p:txBody>
      </p:sp>
      <p:sp>
        <p:nvSpPr>
          <p:cNvPr id="5" name="Rectangle 4"/>
          <p:cNvSpPr/>
          <p:nvPr/>
        </p:nvSpPr>
        <p:spPr>
          <a:xfrm>
            <a:off x="25344" y="191136"/>
            <a:ext cx="2818464" cy="523220"/>
          </a:xfrm>
          <a:prstGeom prst="rect">
            <a:avLst/>
          </a:prstGeom>
        </p:spPr>
        <p:txBody>
          <a:bodyPr wrap="none">
            <a:spAutoFit/>
          </a:bodyPr>
          <a:lstStyle/>
          <a:p>
            <a:r>
              <a:rPr lang="en-US" sz="2800" b="1" dirty="0">
                <a:solidFill>
                  <a:srgbClr val="17375E"/>
                </a:solidFill>
                <a:cs typeface="Arial" panose="020B0604020202020204" pitchFamily="34" charset="0"/>
              </a:rPr>
              <a:t>E</a:t>
            </a:r>
            <a:r>
              <a:rPr lang="en-IN" sz="2800" b="1" dirty="0">
                <a:solidFill>
                  <a:srgbClr val="17375E"/>
                </a:solidFill>
                <a:cs typeface="Arial" panose="020B0604020202020204" pitchFamily="34" charset="0"/>
              </a:rPr>
              <a:t>XISTING SYSTEM</a:t>
            </a:r>
            <a:endParaRPr lang="en-IN" sz="2800" dirty="0">
              <a:solidFill>
                <a:srgbClr val="17375E"/>
              </a:solidFill>
            </a:endParaRPr>
          </a:p>
        </p:txBody>
      </p:sp>
      <p:sp>
        <p:nvSpPr>
          <p:cNvPr id="10" name="TextBox 9">
            <a:extLst>
              <a:ext uri="{FF2B5EF4-FFF2-40B4-BE49-F238E27FC236}">
                <a16:creationId xmlns:a16="http://schemas.microsoft.com/office/drawing/2014/main" id="{7C78A83D-5430-679F-3799-859EC2485AED}"/>
              </a:ext>
            </a:extLst>
          </p:cNvPr>
          <p:cNvSpPr txBox="1"/>
          <p:nvPr/>
        </p:nvSpPr>
        <p:spPr>
          <a:xfrm>
            <a:off x="-32" y="889863"/>
            <a:ext cx="9144000" cy="4635243"/>
          </a:xfrm>
          <a:prstGeom prst="rect">
            <a:avLst/>
          </a:prstGeom>
          <a:noFill/>
        </p:spPr>
        <p:txBody>
          <a:bodyPr wrap="square">
            <a:spAutoFit/>
          </a:bodyPr>
          <a:lstStyle/>
          <a:p>
            <a:pPr marL="285750" indent="-285750" algn="just" eaLnBrk="0" fontAlgn="base" hangingPunct="0">
              <a:lnSpc>
                <a:spcPct val="150000"/>
              </a:lnSpc>
              <a:spcBef>
                <a:spcPts val="1200"/>
              </a:spcBef>
              <a:spcAft>
                <a:spcPts val="1000"/>
              </a:spcAft>
              <a:buFont typeface="Wingdings" panose="05000000000000000000" pitchFamily="2" charset="2"/>
              <a:buChar char="Ø"/>
            </a:pPr>
            <a:r>
              <a:rPr lang="en-GB" dirty="0"/>
              <a:t>The existing systems for honeypot deployment can be categorized into two main approaches. Traditional honeypots typically consist of standalone systems or virtual machines configured to mimic real production environments. </a:t>
            </a:r>
          </a:p>
          <a:p>
            <a:pPr marL="285750" indent="-285750" algn="just" eaLnBrk="0" fontAlgn="base" hangingPunct="0">
              <a:lnSpc>
                <a:spcPct val="150000"/>
              </a:lnSpc>
              <a:spcBef>
                <a:spcPts val="1200"/>
              </a:spcBef>
              <a:spcAft>
                <a:spcPts val="1000"/>
              </a:spcAft>
              <a:buFont typeface="Wingdings" panose="05000000000000000000" pitchFamily="2" charset="2"/>
              <a:buChar char="Ø"/>
            </a:pPr>
            <a:r>
              <a:rPr lang="en-GB" dirty="0"/>
              <a:t>These systems often use tools like </a:t>
            </a:r>
            <a:r>
              <a:rPr lang="en-GB" dirty="0" err="1"/>
              <a:t>Honeyd</a:t>
            </a:r>
            <a:r>
              <a:rPr lang="en-GB" dirty="0"/>
              <a:t>, </a:t>
            </a:r>
            <a:r>
              <a:rPr lang="en-GB" dirty="0" err="1"/>
              <a:t>KFSensor</a:t>
            </a:r>
            <a:r>
              <a:rPr lang="en-GB" dirty="0"/>
              <a:t>, and </a:t>
            </a:r>
            <a:r>
              <a:rPr lang="en-GB" dirty="0" err="1"/>
              <a:t>HoneyBot</a:t>
            </a:r>
            <a:r>
              <a:rPr lang="en-GB" dirty="0"/>
              <a:t> to emulate various services and operating systems.</a:t>
            </a:r>
          </a:p>
          <a:p>
            <a:pPr marL="285750" indent="-285750" algn="just" eaLnBrk="0" fontAlgn="base" hangingPunct="0">
              <a:lnSpc>
                <a:spcPct val="150000"/>
              </a:lnSpc>
              <a:spcBef>
                <a:spcPts val="1200"/>
              </a:spcBef>
              <a:spcAft>
                <a:spcPts val="1000"/>
              </a:spcAft>
              <a:buFont typeface="Wingdings" panose="05000000000000000000" pitchFamily="2" charset="2"/>
              <a:buChar char="Ø"/>
            </a:pPr>
            <a:r>
              <a:rPr lang="en-GB" dirty="0"/>
              <a:t> They are manually configured and maintained, requiring significant expertise to set up and monitor effectively. </a:t>
            </a:r>
          </a:p>
          <a:p>
            <a:pPr marL="285750" indent="-285750" algn="just" eaLnBrk="0" fontAlgn="base" hangingPunct="0">
              <a:lnSpc>
                <a:spcPct val="150000"/>
              </a:lnSpc>
              <a:spcBef>
                <a:spcPts val="1200"/>
              </a:spcBef>
              <a:spcAft>
                <a:spcPts val="1000"/>
              </a:spcAft>
              <a:buFont typeface="Wingdings" panose="05000000000000000000" pitchFamily="2" charset="2"/>
              <a:buChar char="Ø"/>
            </a:pPr>
            <a:r>
              <a:rPr lang="en-GB" dirty="0"/>
              <a:t>These conventional systems usually operate in isolation and may lack advanced integration capabilities with modern security infrastructure.</a:t>
            </a:r>
          </a:p>
        </p:txBody>
      </p:sp>
    </p:spTree>
    <p:extLst>
      <p:ext uri="{BB962C8B-B14F-4D97-AF65-F5344CB8AC3E}">
        <p14:creationId xmlns:p14="http://schemas.microsoft.com/office/powerpoint/2010/main" val="3706169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C92BD-E457-0243-BB62-C12894D3C5A0}"/>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33F6B5E7-92BF-9BF3-9721-8EED225233AF}"/>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879DE699-7064-3B5E-E6D5-CB2F906B8DA1}"/>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4A499739-AF86-C3F8-5C36-44CC23E06E72}"/>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53E47699-13F1-5E42-6B98-C76B61AE94DA}"/>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4356938D-7901-4DEF-CCB4-FF2D8970D86A}"/>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2D3B04FA-DA39-CDE3-1AD7-E70FC750C094}"/>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B1D45D19-9312-2359-57EF-30C00E4560C8}"/>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11</a:t>
            </a:fld>
            <a:endParaRPr lang="en-IN" sz="1400" b="1" dirty="0">
              <a:solidFill>
                <a:schemeClr val="tx1"/>
              </a:solidFill>
            </a:endParaRPr>
          </a:p>
        </p:txBody>
      </p:sp>
      <p:sp>
        <p:nvSpPr>
          <p:cNvPr id="5" name="Rectangle 4">
            <a:extLst>
              <a:ext uri="{FF2B5EF4-FFF2-40B4-BE49-F238E27FC236}">
                <a16:creationId xmlns:a16="http://schemas.microsoft.com/office/drawing/2014/main" id="{AAC401BA-41AF-2499-50DB-729DFFABEAEB}"/>
              </a:ext>
            </a:extLst>
          </p:cNvPr>
          <p:cNvSpPr/>
          <p:nvPr/>
        </p:nvSpPr>
        <p:spPr>
          <a:xfrm>
            <a:off x="25344" y="191136"/>
            <a:ext cx="3078150" cy="523220"/>
          </a:xfrm>
          <a:prstGeom prst="rect">
            <a:avLst/>
          </a:prstGeom>
        </p:spPr>
        <p:txBody>
          <a:bodyPr wrap="none">
            <a:spAutoFit/>
          </a:bodyPr>
          <a:lstStyle/>
          <a:p>
            <a:r>
              <a:rPr lang="en-US" sz="2800" b="1" dirty="0">
                <a:solidFill>
                  <a:srgbClr val="17375E"/>
                </a:solidFill>
                <a:cs typeface="Arial" panose="020B0604020202020204" pitchFamily="34" charset="0"/>
              </a:rPr>
              <a:t>PROPOSED</a:t>
            </a:r>
            <a:r>
              <a:rPr lang="en-IN" sz="2800" b="1" dirty="0">
                <a:solidFill>
                  <a:srgbClr val="17375E"/>
                </a:solidFill>
                <a:cs typeface="Arial" panose="020B0604020202020204" pitchFamily="34" charset="0"/>
              </a:rPr>
              <a:t> SYSTEM</a:t>
            </a:r>
            <a:endParaRPr lang="en-IN" sz="2800" dirty="0">
              <a:solidFill>
                <a:srgbClr val="17375E"/>
              </a:solidFill>
            </a:endParaRPr>
          </a:p>
        </p:txBody>
      </p:sp>
      <p:sp>
        <p:nvSpPr>
          <p:cNvPr id="10" name="TextBox 9">
            <a:extLst>
              <a:ext uri="{FF2B5EF4-FFF2-40B4-BE49-F238E27FC236}">
                <a16:creationId xmlns:a16="http://schemas.microsoft.com/office/drawing/2014/main" id="{7369AA4A-561D-A087-30C1-B2FBE6C78F66}"/>
              </a:ext>
            </a:extLst>
          </p:cNvPr>
          <p:cNvSpPr txBox="1"/>
          <p:nvPr/>
        </p:nvSpPr>
        <p:spPr>
          <a:xfrm>
            <a:off x="-32" y="852374"/>
            <a:ext cx="9144032" cy="6184001"/>
          </a:xfrm>
          <a:prstGeom prst="rect">
            <a:avLst/>
          </a:prstGeom>
          <a:noFill/>
        </p:spPr>
        <p:txBody>
          <a:bodyPr wrap="square">
            <a:spAutoFit/>
          </a:bodyPr>
          <a:lstStyle/>
          <a:p>
            <a:pPr marL="285750" indent="-285750" algn="just">
              <a:lnSpc>
                <a:spcPct val="150000"/>
              </a:lnSpc>
              <a:spcAft>
                <a:spcPts val="1000"/>
              </a:spcAft>
              <a:buFont typeface="Wingdings" panose="05000000000000000000" pitchFamily="2" charset="2"/>
              <a:buChar char="Ø"/>
            </a:pPr>
            <a:r>
              <a:rPr lang="en-IN" sz="1800" dirty="0">
                <a:effectLst/>
                <a:latin typeface="+mj-lt"/>
                <a:ea typeface="Calibri" panose="020F0502020204030204" pitchFamily="34" charset="0"/>
                <a:cs typeface="Times New Roman" panose="02020603050405020304" pitchFamily="18" charset="0"/>
              </a:rPr>
              <a:t>The proposed Honeypot System is designed to address the limitations of existing cybersecurity tools by offering an integrated, scalable and user friendly framework for detecting, </a:t>
            </a:r>
            <a:r>
              <a:rPr lang="en-IN" sz="1800" dirty="0" err="1">
                <a:effectLst/>
                <a:latin typeface="+mj-lt"/>
                <a:ea typeface="Calibri" panose="020F0502020204030204" pitchFamily="34" charset="0"/>
                <a:cs typeface="Times New Roman" panose="02020603050405020304" pitchFamily="18" charset="0"/>
              </a:rPr>
              <a:t>analyzing</a:t>
            </a:r>
            <a:r>
              <a:rPr lang="en-IN" sz="1800" dirty="0">
                <a:effectLst/>
                <a:latin typeface="+mj-lt"/>
                <a:ea typeface="Calibri" panose="020F0502020204030204" pitchFamily="34" charset="0"/>
                <a:cs typeface="Times New Roman" panose="02020603050405020304" pitchFamily="18" charset="0"/>
              </a:rPr>
              <a:t> and visualizing cyber threats. </a:t>
            </a:r>
          </a:p>
          <a:p>
            <a:pPr marL="285750" indent="-285750" algn="just">
              <a:lnSpc>
                <a:spcPct val="150000"/>
              </a:lnSpc>
              <a:spcAft>
                <a:spcPts val="1000"/>
              </a:spcAft>
              <a:buFont typeface="Wingdings" panose="05000000000000000000" pitchFamily="2" charset="2"/>
              <a:buChar char="Ø"/>
            </a:pPr>
            <a:r>
              <a:rPr lang="en-IN" sz="1800" dirty="0">
                <a:effectLst/>
                <a:latin typeface="+mj-lt"/>
                <a:ea typeface="Calibri" panose="020F0502020204030204" pitchFamily="34" charset="0"/>
                <a:cs typeface="Times New Roman" panose="02020603050405020304" pitchFamily="18" charset="0"/>
              </a:rPr>
              <a:t>The system comprises two primary low interaction honeypot modules—an SSH Honeypot and an HTTP WordPress Honeypot—coupled with a robust data logging mechanism and an interactive web based dashboard. </a:t>
            </a:r>
          </a:p>
          <a:p>
            <a:pPr marL="285750" indent="-285750" algn="just">
              <a:lnSpc>
                <a:spcPct val="150000"/>
              </a:lnSpc>
              <a:spcAft>
                <a:spcPts val="1000"/>
              </a:spcAft>
              <a:buFont typeface="Wingdings" panose="05000000000000000000" pitchFamily="2" charset="2"/>
              <a:buChar char="Ø"/>
            </a:pPr>
            <a:r>
              <a:rPr lang="en-IN" sz="1800" dirty="0">
                <a:effectLst/>
                <a:latin typeface="+mj-lt"/>
                <a:ea typeface="Calibri" panose="020F0502020204030204" pitchFamily="34" charset="0"/>
                <a:cs typeface="Times New Roman" panose="02020603050405020304" pitchFamily="18" charset="0"/>
              </a:rPr>
              <a:t>By simulating commonly targeted network services, the system attracts malicious actors, captures their interactions and provides actionable intelligence to enhance network security. The modular architecture ensures flexibility, enabling seamless integration of additional honeypot types or analytical tools in the future, making it adaptable to evolving cyber threats.</a:t>
            </a:r>
          </a:p>
          <a:p>
            <a:pPr marL="285750" indent="-285750" algn="just" eaLnBrk="0" fontAlgn="base" hangingPunct="0">
              <a:lnSpc>
                <a:spcPct val="150000"/>
              </a:lnSpc>
              <a:spcBef>
                <a:spcPts val="1200"/>
              </a:spcBef>
              <a:spcAft>
                <a:spcPts val="1000"/>
              </a:spcAft>
              <a:buFont typeface="Wingdings" panose="05000000000000000000" pitchFamily="2" charset="2"/>
              <a:buChar char="Ø"/>
            </a:pPr>
            <a:endParaRPr lang="en-GB" sz="1600" dirty="0"/>
          </a:p>
          <a:p>
            <a:pPr marL="0" marR="0" lvl="0" indent="457200" algn="just" defTabSz="914400" rtl="0" eaLnBrk="0" fontAlgn="base" latinLnBrk="0" hangingPunct="0">
              <a:lnSpc>
                <a:spcPct val="150000"/>
              </a:lnSpc>
              <a:spcBef>
                <a:spcPts val="1200"/>
              </a:spcBef>
              <a:spcAft>
                <a:spcPts val="1000"/>
              </a:spcAft>
              <a:buClrTx/>
              <a:buSzTx/>
              <a:buFontTx/>
              <a:buNone/>
              <a:tabLst/>
            </a:pPr>
            <a:endParaRPr kumimoji="0" lang="en-US" altLang="en-US" sz="1600" b="0" i="0" u="none" strike="noStrike" cap="none" normalizeH="0" dirty="0">
              <a:ln>
                <a:noFill/>
              </a:ln>
              <a:solidFill>
                <a:schemeClr val="tx1"/>
              </a:solidFill>
              <a:effectLst/>
              <a:latin typeface="+mj-lt"/>
              <a:cs typeface="Arial" panose="020B0604020202020204" pitchFamily="34" charset="0"/>
            </a:endParaRPr>
          </a:p>
        </p:txBody>
      </p:sp>
    </p:spTree>
    <p:extLst>
      <p:ext uri="{BB962C8B-B14F-4D97-AF65-F5344CB8AC3E}">
        <p14:creationId xmlns:p14="http://schemas.microsoft.com/office/powerpoint/2010/main" val="3639525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FDD40-431C-7914-C1B6-894F3A634AB4}"/>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0BAF7D9B-6F9E-2A45-050A-5F3F3891508B}"/>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F13C90B9-0EDB-0F26-5825-13A420016FEF}"/>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27EC7195-4022-1B7F-17C2-7CC5EEE9CA43}"/>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34A30B91-DC18-B497-0E72-1025C70F2612}"/>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53316241-D123-BE87-CDB1-7EE6702B091E}"/>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4580BB64-BA9D-904A-7194-3694D79FFDC3}"/>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74534A3E-9CB4-05A3-ED8F-877FDC98F6F9}"/>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12</a:t>
            </a:fld>
            <a:endParaRPr lang="en-IN" sz="1400" b="1" dirty="0">
              <a:solidFill>
                <a:schemeClr val="tx1"/>
              </a:solidFill>
            </a:endParaRPr>
          </a:p>
        </p:txBody>
      </p:sp>
      <p:sp>
        <p:nvSpPr>
          <p:cNvPr id="5" name="Rectangle 4">
            <a:extLst>
              <a:ext uri="{FF2B5EF4-FFF2-40B4-BE49-F238E27FC236}">
                <a16:creationId xmlns:a16="http://schemas.microsoft.com/office/drawing/2014/main" id="{AF6CBB19-D249-7D61-DC7F-43E1E5724DA3}"/>
              </a:ext>
            </a:extLst>
          </p:cNvPr>
          <p:cNvSpPr/>
          <p:nvPr/>
        </p:nvSpPr>
        <p:spPr>
          <a:xfrm>
            <a:off x="25344" y="191136"/>
            <a:ext cx="4024563" cy="523220"/>
          </a:xfrm>
          <a:prstGeom prst="rect">
            <a:avLst/>
          </a:prstGeom>
        </p:spPr>
        <p:txBody>
          <a:bodyPr wrap="none">
            <a:spAutoFit/>
          </a:bodyPr>
          <a:lstStyle/>
          <a:p>
            <a:r>
              <a:rPr lang="en-US" sz="2800" b="1" dirty="0">
                <a:solidFill>
                  <a:srgbClr val="17375E"/>
                </a:solidFill>
                <a:cs typeface="Arial" panose="020B0604020202020204" pitchFamily="34" charset="0"/>
              </a:rPr>
              <a:t>ARCHITECTURE DIAGRAM</a:t>
            </a:r>
            <a:endParaRPr lang="en-IN" sz="2800" dirty="0">
              <a:solidFill>
                <a:srgbClr val="17375E"/>
              </a:solidFill>
            </a:endParaRPr>
          </a:p>
        </p:txBody>
      </p:sp>
      <p:pic>
        <p:nvPicPr>
          <p:cNvPr id="11" name="Picture 10">
            <a:extLst>
              <a:ext uri="{FF2B5EF4-FFF2-40B4-BE49-F238E27FC236}">
                <a16:creationId xmlns:a16="http://schemas.microsoft.com/office/drawing/2014/main" id="{F162E708-4760-816D-15E9-C9BAF91F3F73}"/>
              </a:ext>
            </a:extLst>
          </p:cNvPr>
          <p:cNvPicPr>
            <a:picLocks noChangeAspect="1"/>
          </p:cNvPicPr>
          <p:nvPr/>
        </p:nvPicPr>
        <p:blipFill>
          <a:blip r:embed="rId3"/>
          <a:srcRect/>
          <a:stretch/>
        </p:blipFill>
        <p:spPr>
          <a:xfrm>
            <a:off x="561314" y="854304"/>
            <a:ext cx="7957995" cy="5442755"/>
          </a:xfrm>
          <a:prstGeom prst="rect">
            <a:avLst/>
          </a:prstGeom>
        </p:spPr>
      </p:pic>
      <p:sp>
        <p:nvSpPr>
          <p:cNvPr id="6" name="Rectangle 5">
            <a:extLst>
              <a:ext uri="{FF2B5EF4-FFF2-40B4-BE49-F238E27FC236}">
                <a16:creationId xmlns:a16="http://schemas.microsoft.com/office/drawing/2014/main" id="{84FE723E-4DC2-6564-1A90-4E813D7154D7}"/>
              </a:ext>
            </a:extLst>
          </p:cNvPr>
          <p:cNvSpPr/>
          <p:nvPr/>
        </p:nvSpPr>
        <p:spPr>
          <a:xfrm>
            <a:off x="561315" y="889863"/>
            <a:ext cx="7957996" cy="5250587"/>
          </a:xfrm>
          <a:prstGeom prst="rect">
            <a:avLst/>
          </a:prstGeom>
          <a:noFill/>
          <a:ln w="19050">
            <a:solidFill>
              <a:schemeClr val="tx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993723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AC60-0409-9941-45C1-0927175D1728}"/>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FD576DD8-497C-2745-2409-EB02639BA20E}"/>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CDA226AD-3F81-C921-E259-DEA3DCCA3A6F}"/>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5376FB8C-7B2E-9B20-86C2-678B26A498DA}"/>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5CA843AB-D9A2-E0CF-5179-0E0B0C1A7E4D}"/>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02EC41D8-5F27-7AC2-1A82-04AAE2DE87CD}"/>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2BC5DC0F-953C-9962-5C15-106F6B127F65}"/>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92E4741F-378A-8A9F-388F-065AAB740863}"/>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13</a:t>
            </a:fld>
            <a:endParaRPr lang="en-IN" sz="1400" b="1" dirty="0">
              <a:solidFill>
                <a:schemeClr val="tx1"/>
              </a:solidFill>
            </a:endParaRPr>
          </a:p>
        </p:txBody>
      </p:sp>
      <p:sp>
        <p:nvSpPr>
          <p:cNvPr id="5" name="Rectangle 4">
            <a:extLst>
              <a:ext uri="{FF2B5EF4-FFF2-40B4-BE49-F238E27FC236}">
                <a16:creationId xmlns:a16="http://schemas.microsoft.com/office/drawing/2014/main" id="{5824D47F-3D2E-23D5-3C04-9DFD34918F33}"/>
              </a:ext>
            </a:extLst>
          </p:cNvPr>
          <p:cNvSpPr/>
          <p:nvPr/>
        </p:nvSpPr>
        <p:spPr>
          <a:xfrm>
            <a:off x="0" y="254238"/>
            <a:ext cx="5730095" cy="523220"/>
          </a:xfrm>
          <a:prstGeom prst="rect">
            <a:avLst/>
          </a:prstGeom>
        </p:spPr>
        <p:txBody>
          <a:bodyPr wrap="none">
            <a:spAutoFit/>
          </a:bodyPr>
          <a:lstStyle/>
          <a:p>
            <a:r>
              <a:rPr lang="en-US" sz="2800" b="1" dirty="0">
                <a:solidFill>
                  <a:srgbClr val="17375E"/>
                </a:solidFill>
                <a:cs typeface="Arial" panose="020B0604020202020204" pitchFamily="34" charset="0"/>
              </a:rPr>
              <a:t>DETAILED ALGORITHM FOR MODULE </a:t>
            </a:r>
            <a:endParaRPr lang="en-IN" sz="2800" dirty="0">
              <a:solidFill>
                <a:srgbClr val="17375E"/>
              </a:solidFill>
            </a:endParaRPr>
          </a:p>
        </p:txBody>
      </p:sp>
      <p:sp>
        <p:nvSpPr>
          <p:cNvPr id="6" name="Rectangle 1">
            <a:extLst>
              <a:ext uri="{FF2B5EF4-FFF2-40B4-BE49-F238E27FC236}">
                <a16:creationId xmlns:a16="http://schemas.microsoft.com/office/drawing/2014/main" id="{1710AFB4-82E2-F287-2660-A49FE8DD95E6}"/>
              </a:ext>
            </a:extLst>
          </p:cNvPr>
          <p:cNvSpPr>
            <a:spLocks noChangeArrowheads="1"/>
          </p:cNvSpPr>
          <p:nvPr/>
        </p:nvSpPr>
        <p:spPr bwMode="auto">
          <a:xfrm>
            <a:off x="344714" y="921757"/>
            <a:ext cx="8454572" cy="4237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ts val="1200"/>
              </a:spcBef>
              <a:spcAft>
                <a:spcPts val="1000"/>
              </a:spcAft>
            </a:pPr>
            <a:r>
              <a:rPr kumimoji="0" lang="en-US" altLang="en-US" sz="1800" b="1" i="0" u="none" strike="noStrike" cap="none" normalizeH="0" dirty="0">
                <a:ln>
                  <a:noFill/>
                </a:ln>
                <a:solidFill>
                  <a:schemeClr val="tx1"/>
                </a:solidFill>
                <a:effectLst/>
                <a:cs typeface="Arial" panose="020B0604020202020204" pitchFamily="34" charset="0"/>
              </a:rPr>
              <a:t>MODULE 1: </a:t>
            </a:r>
            <a:r>
              <a:rPr lang="en-IN" sz="1800" b="1" dirty="0"/>
              <a:t>Initialization and Setup</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Configure the honeypot with essential settings:</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Set HOST = "0.0.0.0" to listen on all network interfaces.</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Define SSH_PORT = 2280 and WEB_PORT = 8050.</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Specify LOG_FILE = “cmds_</a:t>
            </a:r>
            <a:r>
              <a:rPr lang="en-US" altLang="en-US" dirty="0"/>
              <a:t>audits.log</a:t>
            </a:r>
            <a:r>
              <a:rPr kumimoji="0" lang="en-US" altLang="en-US" b="0" i="0" u="none" strike="noStrike" cap="none" normalizeH="0" baseline="0" dirty="0">
                <a:ln>
                  <a:noFill/>
                </a:ln>
                <a:solidFill>
                  <a:schemeClr val="tx1"/>
                </a:solidFill>
                <a:effectLst/>
              </a:rPr>
              <a:t>“ and creds_audits.log for logging attacker activity.</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Start two network services:</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A </a:t>
            </a:r>
            <a:r>
              <a:rPr kumimoji="0" lang="en-US" altLang="en-US" i="0" u="none" strike="noStrike" cap="none" normalizeH="0" baseline="0" dirty="0">
                <a:ln>
                  <a:noFill/>
                </a:ln>
                <a:solidFill>
                  <a:schemeClr val="tx1"/>
                </a:solidFill>
                <a:effectLst/>
              </a:rPr>
              <a:t>fake SSH service </a:t>
            </a:r>
            <a:r>
              <a:rPr kumimoji="0" lang="en-US" altLang="en-US" b="0" i="0" u="none" strike="noStrike" cap="none" normalizeH="0" baseline="0" dirty="0">
                <a:ln>
                  <a:noFill/>
                </a:ln>
                <a:solidFill>
                  <a:schemeClr val="tx1"/>
                </a:solidFill>
                <a:effectLst/>
              </a:rPr>
              <a:t>to capture unauthorized login attempts.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0703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24F05-3DF4-000E-EC24-5AF4D169BDD2}"/>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A12F492B-1A18-C9AE-3AB0-30AE959FD878}"/>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04B0305B-5F6A-5694-F2F2-9DE8A62A00BD}"/>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A3261EBC-A132-1BCB-0A0D-4C5DE714D76B}"/>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1E8E7A94-A5DA-28E2-CE9B-9DA4043BD078}"/>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40AF1F29-3B95-B973-C08E-7A44BD20AE41}"/>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013C0146-7D35-F1B3-AB3E-01A09C0AECF6}"/>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114329FB-3BDF-AFC4-6D5D-A96C812B7EA6}"/>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14</a:t>
            </a:fld>
            <a:endParaRPr lang="en-IN" sz="1400" b="1" dirty="0">
              <a:solidFill>
                <a:schemeClr val="tx1"/>
              </a:solidFill>
            </a:endParaRPr>
          </a:p>
        </p:txBody>
      </p:sp>
      <p:sp>
        <p:nvSpPr>
          <p:cNvPr id="5" name="Rectangle 4">
            <a:extLst>
              <a:ext uri="{FF2B5EF4-FFF2-40B4-BE49-F238E27FC236}">
                <a16:creationId xmlns:a16="http://schemas.microsoft.com/office/drawing/2014/main" id="{444A23D7-7BCB-ED92-DA02-23BD398D4BBE}"/>
              </a:ext>
            </a:extLst>
          </p:cNvPr>
          <p:cNvSpPr/>
          <p:nvPr/>
        </p:nvSpPr>
        <p:spPr>
          <a:xfrm>
            <a:off x="0" y="254238"/>
            <a:ext cx="3616759" cy="523220"/>
          </a:xfrm>
          <a:prstGeom prst="rect">
            <a:avLst/>
          </a:prstGeom>
        </p:spPr>
        <p:txBody>
          <a:bodyPr wrap="none">
            <a:spAutoFit/>
          </a:bodyPr>
          <a:lstStyle/>
          <a:p>
            <a:r>
              <a:rPr lang="en-US" sz="2800" b="1" dirty="0">
                <a:solidFill>
                  <a:srgbClr val="17375E"/>
                </a:solidFill>
                <a:cs typeface="Arial" panose="020B0604020202020204" pitchFamily="34" charset="0"/>
              </a:rPr>
              <a:t>DETAILED ALGORITHM </a:t>
            </a:r>
            <a:endParaRPr lang="en-IN" sz="2800" dirty="0">
              <a:solidFill>
                <a:srgbClr val="17375E"/>
              </a:solidFill>
            </a:endParaRPr>
          </a:p>
        </p:txBody>
      </p:sp>
      <p:sp>
        <p:nvSpPr>
          <p:cNvPr id="6" name="Rectangle 1">
            <a:extLst>
              <a:ext uri="{FF2B5EF4-FFF2-40B4-BE49-F238E27FC236}">
                <a16:creationId xmlns:a16="http://schemas.microsoft.com/office/drawing/2014/main" id="{471B6CAE-F514-C23E-516E-F8760159D3F3}"/>
              </a:ext>
            </a:extLst>
          </p:cNvPr>
          <p:cNvSpPr>
            <a:spLocks noChangeArrowheads="1"/>
          </p:cNvSpPr>
          <p:nvPr/>
        </p:nvSpPr>
        <p:spPr bwMode="auto">
          <a:xfrm>
            <a:off x="191809" y="1104508"/>
            <a:ext cx="8454572" cy="46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ts val="1200"/>
              </a:spcBef>
              <a:spcAft>
                <a:spcPts val="1000"/>
              </a:spcAft>
            </a:pPr>
            <a:r>
              <a:rPr kumimoji="0" lang="en-US" altLang="en-US" sz="1800" b="1" i="0" u="none" strike="noStrike" cap="none" normalizeH="0" dirty="0">
                <a:ln>
                  <a:noFill/>
                </a:ln>
                <a:solidFill>
                  <a:schemeClr val="tx1"/>
                </a:solidFill>
                <a:effectLst/>
                <a:cs typeface="Arial" panose="020B0604020202020204" pitchFamily="34" charset="0"/>
              </a:rPr>
              <a:t>MODULE </a:t>
            </a:r>
            <a:r>
              <a:rPr lang="en-US" altLang="en-US" b="1" dirty="0">
                <a:cs typeface="Arial" panose="020B0604020202020204" pitchFamily="34" charset="0"/>
              </a:rPr>
              <a:t>2</a:t>
            </a:r>
            <a:r>
              <a:rPr kumimoji="0" lang="en-US" altLang="en-US" sz="1800" b="1" i="0" u="none" strike="noStrike" cap="none" normalizeH="0" dirty="0">
                <a:ln>
                  <a:noFill/>
                </a:ln>
                <a:solidFill>
                  <a:schemeClr val="tx1"/>
                </a:solidFill>
                <a:effectLst/>
                <a:cs typeface="Arial" panose="020B0604020202020204" pitchFamily="34" charset="0"/>
              </a:rPr>
              <a:t>: </a:t>
            </a:r>
            <a:r>
              <a:rPr lang="en-IN" b="1" dirty="0"/>
              <a:t>SSH Server Setup</a:t>
            </a: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A15CD6C7-E91E-8837-4F3D-34F53FDC3CFC}"/>
              </a:ext>
            </a:extLst>
          </p:cNvPr>
          <p:cNvSpPr txBox="1"/>
          <p:nvPr/>
        </p:nvSpPr>
        <p:spPr>
          <a:xfrm>
            <a:off x="191809" y="1715873"/>
            <a:ext cx="7207321" cy="3788858"/>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Create a </a:t>
            </a:r>
            <a:r>
              <a:rPr kumimoji="0" lang="en-US" altLang="en-US" i="0" u="none" strike="noStrike" cap="none" normalizeH="0" baseline="0" dirty="0">
                <a:ln>
                  <a:noFill/>
                </a:ln>
                <a:solidFill>
                  <a:schemeClr val="tx1"/>
                </a:solidFill>
                <a:effectLst/>
              </a:rPr>
              <a:t>TCP socket </a:t>
            </a:r>
            <a:r>
              <a:rPr kumimoji="0" lang="en-US" altLang="en-US" b="0" i="0" u="none" strike="noStrike" cap="none" normalizeH="0" baseline="0" dirty="0">
                <a:ln>
                  <a:noFill/>
                </a:ln>
                <a:solidFill>
                  <a:schemeClr val="tx1"/>
                </a:solidFill>
                <a:effectLst/>
              </a:rPr>
              <a:t>and bind it to SSH_PORT.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Listen for incoming connections from remote users.</a:t>
            </a:r>
          </a:p>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chemeClr val="tx1"/>
                </a:solidFill>
                <a:effectLst/>
              </a:rPr>
              <a:t>When a connection is established:</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Retrieve and log the </a:t>
            </a:r>
            <a:r>
              <a:rPr kumimoji="0" lang="en-US" altLang="en-US" i="0" u="none" strike="noStrike" cap="none" normalizeH="0" baseline="0" dirty="0">
                <a:ln>
                  <a:noFill/>
                </a:ln>
                <a:solidFill>
                  <a:schemeClr val="tx1"/>
                </a:solidFill>
                <a:effectLst/>
              </a:rPr>
              <a:t>attacker's IP address.</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Send a </a:t>
            </a:r>
            <a:r>
              <a:rPr kumimoji="0" lang="en-US" altLang="en-US" i="0" u="none" strike="noStrike" cap="none" normalizeH="0" baseline="0" dirty="0">
                <a:ln>
                  <a:noFill/>
                </a:ln>
                <a:solidFill>
                  <a:schemeClr val="tx1"/>
                </a:solidFill>
                <a:effectLst/>
              </a:rPr>
              <a:t>fake SSH banner </a:t>
            </a:r>
            <a:r>
              <a:rPr kumimoji="0" lang="en-US" altLang="en-US" b="0" i="0" u="none" strike="noStrike" cap="none" normalizeH="0" baseline="0" dirty="0">
                <a:ln>
                  <a:noFill/>
                </a:ln>
                <a:solidFill>
                  <a:schemeClr val="tx1"/>
                </a:solidFill>
                <a:effectLst/>
              </a:rPr>
              <a:t>(SSH-2.0-OpenSSH_8.2p1).</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Receive </a:t>
            </a:r>
            <a:r>
              <a:rPr kumimoji="0" lang="en-US" altLang="en-US" i="0" u="none" strike="noStrike" cap="none" normalizeH="0" baseline="0" dirty="0">
                <a:ln>
                  <a:noFill/>
                </a:ln>
                <a:solidFill>
                  <a:schemeClr val="tx1"/>
                </a:solidFill>
                <a:effectLst/>
              </a:rPr>
              <a:t>user input </a:t>
            </a:r>
            <a:r>
              <a:rPr kumimoji="0" lang="en-US" altLang="en-US" b="0" i="0" u="none" strike="noStrike" cap="none" normalizeH="0" baseline="0" dirty="0">
                <a:ln>
                  <a:noFill/>
                </a:ln>
                <a:solidFill>
                  <a:schemeClr val="tx1"/>
                </a:solidFill>
                <a:effectLst/>
              </a:rPr>
              <a:t>(username/password attempts).</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Identify attack patterns such as </a:t>
            </a:r>
            <a:r>
              <a:rPr kumimoji="0" lang="en-US" altLang="en-US" i="0" u="none" strike="noStrike" cap="none" normalizeH="0" baseline="0" dirty="0">
                <a:ln>
                  <a:noFill/>
                </a:ln>
                <a:solidFill>
                  <a:schemeClr val="tx1"/>
                </a:solidFill>
                <a:effectLst/>
              </a:rPr>
              <a:t>brute force attempts.</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Log attacker details (IP, timestamp, login attempts).</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Close the connection after interaction.</a:t>
            </a:r>
          </a:p>
        </p:txBody>
      </p:sp>
    </p:spTree>
    <p:extLst>
      <p:ext uri="{BB962C8B-B14F-4D97-AF65-F5344CB8AC3E}">
        <p14:creationId xmlns:p14="http://schemas.microsoft.com/office/powerpoint/2010/main" val="238389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7B7CB-4AA9-01B5-3DAD-1CF8A2C424E5}"/>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1B581449-969A-B47D-5B17-736BE7981839}"/>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4A2E210F-7CE5-969D-3643-5551B7A19273}"/>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1607053D-7576-406D-735D-7CFBE46A02BC}"/>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286496DC-5516-7E86-8B96-37C23A87BB95}"/>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F6774CE8-9CA8-857D-93C0-F1994FB80F96}"/>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E9ECB479-7920-0C7A-A193-1D6A4053923A}"/>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D70A3328-39F1-7421-D2D5-2D559E1DF17A}"/>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15</a:t>
            </a:fld>
            <a:endParaRPr lang="en-IN" sz="1400" b="1" dirty="0">
              <a:solidFill>
                <a:schemeClr val="tx1"/>
              </a:solidFill>
            </a:endParaRPr>
          </a:p>
        </p:txBody>
      </p:sp>
      <p:sp>
        <p:nvSpPr>
          <p:cNvPr id="5" name="Rectangle 4">
            <a:extLst>
              <a:ext uri="{FF2B5EF4-FFF2-40B4-BE49-F238E27FC236}">
                <a16:creationId xmlns:a16="http://schemas.microsoft.com/office/drawing/2014/main" id="{9691F975-8C70-905E-B791-C469F7047EFD}"/>
              </a:ext>
            </a:extLst>
          </p:cNvPr>
          <p:cNvSpPr/>
          <p:nvPr/>
        </p:nvSpPr>
        <p:spPr>
          <a:xfrm>
            <a:off x="0" y="254238"/>
            <a:ext cx="3616759" cy="523220"/>
          </a:xfrm>
          <a:prstGeom prst="rect">
            <a:avLst/>
          </a:prstGeom>
        </p:spPr>
        <p:txBody>
          <a:bodyPr wrap="none">
            <a:spAutoFit/>
          </a:bodyPr>
          <a:lstStyle/>
          <a:p>
            <a:r>
              <a:rPr lang="en-US" sz="2800" b="1" dirty="0">
                <a:solidFill>
                  <a:srgbClr val="17375E"/>
                </a:solidFill>
                <a:cs typeface="Arial" panose="020B0604020202020204" pitchFamily="34" charset="0"/>
              </a:rPr>
              <a:t>DETAILED ALGORITHM </a:t>
            </a:r>
            <a:endParaRPr lang="en-IN" sz="2800" dirty="0">
              <a:solidFill>
                <a:srgbClr val="17375E"/>
              </a:solidFill>
            </a:endParaRPr>
          </a:p>
        </p:txBody>
      </p:sp>
      <p:sp>
        <p:nvSpPr>
          <p:cNvPr id="10" name="TextBox 9">
            <a:extLst>
              <a:ext uri="{FF2B5EF4-FFF2-40B4-BE49-F238E27FC236}">
                <a16:creationId xmlns:a16="http://schemas.microsoft.com/office/drawing/2014/main" id="{0361DF93-AB73-476A-8FF9-B4FF115C818C}"/>
              </a:ext>
            </a:extLst>
          </p:cNvPr>
          <p:cNvSpPr txBox="1"/>
          <p:nvPr/>
        </p:nvSpPr>
        <p:spPr>
          <a:xfrm>
            <a:off x="220894" y="889863"/>
            <a:ext cx="8702212" cy="5035353"/>
          </a:xfrm>
          <a:prstGeom prst="rect">
            <a:avLst/>
          </a:prstGeom>
          <a:noFill/>
        </p:spPr>
        <p:txBody>
          <a:bodyPr wrap="square" rtlCol="0">
            <a:spAutoFit/>
          </a:bodyPr>
          <a:lstStyle/>
          <a:p>
            <a:pPr algn="just">
              <a:lnSpc>
                <a:spcPct val="150000"/>
              </a:lnSpc>
            </a:pPr>
            <a:r>
              <a:rPr kumimoji="0" lang="en-US" altLang="en-US" sz="1800" b="1" i="0" u="none" strike="noStrike" cap="none" normalizeH="0" dirty="0">
                <a:ln>
                  <a:noFill/>
                </a:ln>
                <a:solidFill>
                  <a:schemeClr val="tx1"/>
                </a:solidFill>
                <a:effectLst/>
                <a:cs typeface="Arial" panose="020B0604020202020204" pitchFamily="34" charset="0"/>
              </a:rPr>
              <a:t>MODULE 3: </a:t>
            </a:r>
            <a:r>
              <a:rPr lang="en-IN" b="1" dirty="0"/>
              <a:t>Attack Detection &amp; Logging</a:t>
            </a:r>
            <a:endParaRPr lang="en-GB" b="1" dirty="0"/>
          </a:p>
          <a:p>
            <a:pPr marL="285750" indent="-285750" algn="just">
              <a:lnSpc>
                <a:spcPct val="150000"/>
              </a:lnSpc>
              <a:buFont typeface="Arial" panose="020B0604020202020204" pitchFamily="34" charset="0"/>
              <a:buChar char="•"/>
            </a:pPr>
            <a:r>
              <a:rPr lang="en-GB" dirty="0"/>
              <a:t>Extract the IP address from connection requests.</a:t>
            </a:r>
          </a:p>
          <a:p>
            <a:pPr marL="285750" indent="-285750" algn="just">
              <a:lnSpc>
                <a:spcPct val="150000"/>
              </a:lnSpc>
              <a:buFont typeface="Arial" panose="020B0604020202020204" pitchFamily="34" charset="0"/>
              <a:buChar char="•"/>
            </a:pPr>
            <a:r>
              <a:rPr lang="en-GB" dirty="0"/>
              <a:t>Determine the geolocation of the attacker:</a:t>
            </a:r>
          </a:p>
          <a:p>
            <a:pPr marL="285750" indent="-285750" algn="just">
              <a:lnSpc>
                <a:spcPct val="150000"/>
              </a:lnSpc>
              <a:buFont typeface="Arial" panose="020B0604020202020204" pitchFamily="34" charset="0"/>
              <a:buChar char="•"/>
            </a:pPr>
            <a:r>
              <a:rPr lang="en-GB" dirty="0"/>
              <a:t>If local (192.168.* or 127.*), label as "Local Network". Otherwise, use an IP geolocation API to determine the region.</a:t>
            </a:r>
          </a:p>
          <a:p>
            <a:pPr algn="just">
              <a:lnSpc>
                <a:spcPct val="150000"/>
              </a:lnSpc>
            </a:pPr>
            <a:r>
              <a:rPr kumimoji="0" lang="en-US" altLang="en-US" sz="1800" b="1" i="0" u="none" strike="noStrike" cap="none" normalizeH="0" dirty="0">
                <a:ln>
                  <a:noFill/>
                </a:ln>
                <a:solidFill>
                  <a:schemeClr val="tx1"/>
                </a:solidFill>
                <a:effectLst/>
                <a:cs typeface="Arial" panose="020B0604020202020204" pitchFamily="34" charset="0"/>
              </a:rPr>
              <a:t>MODULE </a:t>
            </a:r>
            <a:r>
              <a:rPr lang="en-US" altLang="en-US" b="1" dirty="0">
                <a:cs typeface="Arial" panose="020B0604020202020204" pitchFamily="34" charset="0"/>
              </a:rPr>
              <a:t>4</a:t>
            </a:r>
            <a:r>
              <a:rPr kumimoji="0" lang="en-US" altLang="en-US" sz="1800" b="1" i="0" u="none" strike="noStrike" cap="none" normalizeH="0" dirty="0">
                <a:ln>
                  <a:noFill/>
                </a:ln>
                <a:solidFill>
                  <a:schemeClr val="tx1"/>
                </a:solidFill>
                <a:effectLst/>
                <a:cs typeface="Arial" panose="020B0604020202020204" pitchFamily="34" charset="0"/>
              </a:rPr>
              <a:t>: </a:t>
            </a:r>
            <a:r>
              <a:rPr lang="en-IN" b="1" dirty="0"/>
              <a:t>Identify Attack Types</a:t>
            </a:r>
            <a:endParaRPr lang="en-GB" b="1" dirty="0"/>
          </a:p>
          <a:p>
            <a:pPr marL="285750" indent="-285750" algn="just">
              <a:lnSpc>
                <a:spcPct val="150000"/>
              </a:lnSpc>
              <a:buFont typeface="Arial" panose="020B0604020202020204" pitchFamily="34" charset="0"/>
              <a:buChar char="•"/>
            </a:pPr>
            <a:r>
              <a:rPr lang="en-GB" dirty="0"/>
              <a:t>If a common username is used (root, admin), classify as Brute Force Attack.</a:t>
            </a:r>
          </a:p>
          <a:p>
            <a:pPr marL="285750" indent="-285750" algn="just">
              <a:lnSpc>
                <a:spcPct val="150000"/>
              </a:lnSpc>
              <a:buFont typeface="Arial" panose="020B0604020202020204" pitchFamily="34" charset="0"/>
              <a:buChar char="•"/>
            </a:pPr>
            <a:r>
              <a:rPr lang="en-GB" dirty="0"/>
              <a:t>If the password is long and complex, classify as Dictionary Attack. Otherwise, mark it as Suspicious Activity.</a:t>
            </a:r>
          </a:p>
          <a:p>
            <a:pPr marL="285750" indent="-285750" algn="just">
              <a:lnSpc>
                <a:spcPct val="150000"/>
              </a:lnSpc>
              <a:buFont typeface="Arial" panose="020B0604020202020204" pitchFamily="34" charset="0"/>
              <a:buChar char="•"/>
            </a:pPr>
            <a:r>
              <a:rPr lang="en-GB" dirty="0"/>
              <a:t>Store logs in honeypot_log.txt with details: Attacker IP, location, attack type, login attempts, timestamps.</a:t>
            </a:r>
            <a:endParaRPr lang="en-IN" dirty="0"/>
          </a:p>
          <a:p>
            <a:pPr marL="285750" indent="-285750" algn="just">
              <a:lnSpc>
                <a:spcPct val="150000"/>
              </a:lnSpc>
              <a:buFont typeface="Arial" panose="020B0604020202020204" pitchFamily="34" charset="0"/>
              <a:buChar char="•"/>
            </a:pPr>
            <a:endParaRPr lang="en-GB" dirty="0"/>
          </a:p>
        </p:txBody>
      </p:sp>
    </p:spTree>
    <p:extLst>
      <p:ext uri="{BB962C8B-B14F-4D97-AF65-F5344CB8AC3E}">
        <p14:creationId xmlns:p14="http://schemas.microsoft.com/office/powerpoint/2010/main" val="1219315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E0470-E6C4-2C7D-A04F-CE19A38C3960}"/>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C1582A97-9A1E-7791-0EFB-F5E88070EEE2}"/>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8D694D7F-A73A-59FD-B4E9-71DBBBDEC26D}"/>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EB58012A-ED81-F32C-D4CE-3A7AA73FDB31}"/>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F0F97550-0699-7C3D-77BF-7E504887E261}"/>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450B35BB-74D3-71C6-0703-BEC59221371A}"/>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6390E6BA-1679-D2B6-7385-006E550B47ED}"/>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E7D108AF-22D1-659D-2625-3FE85A717685}"/>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16</a:t>
            </a:fld>
            <a:endParaRPr lang="en-IN" sz="1400" b="1" dirty="0">
              <a:solidFill>
                <a:schemeClr val="tx1"/>
              </a:solidFill>
            </a:endParaRPr>
          </a:p>
        </p:txBody>
      </p:sp>
      <p:sp>
        <p:nvSpPr>
          <p:cNvPr id="5" name="Rectangle 4">
            <a:extLst>
              <a:ext uri="{FF2B5EF4-FFF2-40B4-BE49-F238E27FC236}">
                <a16:creationId xmlns:a16="http://schemas.microsoft.com/office/drawing/2014/main" id="{A417EFA5-C383-4230-E3D6-75550F50F7A6}"/>
              </a:ext>
            </a:extLst>
          </p:cNvPr>
          <p:cNvSpPr/>
          <p:nvPr/>
        </p:nvSpPr>
        <p:spPr>
          <a:xfrm>
            <a:off x="0" y="254238"/>
            <a:ext cx="3616759" cy="523220"/>
          </a:xfrm>
          <a:prstGeom prst="rect">
            <a:avLst/>
          </a:prstGeom>
        </p:spPr>
        <p:txBody>
          <a:bodyPr wrap="none">
            <a:spAutoFit/>
          </a:bodyPr>
          <a:lstStyle/>
          <a:p>
            <a:r>
              <a:rPr lang="en-US" sz="2800" b="1" dirty="0">
                <a:solidFill>
                  <a:srgbClr val="17375E"/>
                </a:solidFill>
                <a:cs typeface="Arial" panose="020B0604020202020204" pitchFamily="34" charset="0"/>
              </a:rPr>
              <a:t>DETAILED ALGORITHM </a:t>
            </a:r>
            <a:endParaRPr lang="en-IN" sz="2800" dirty="0">
              <a:solidFill>
                <a:srgbClr val="17375E"/>
              </a:solidFill>
            </a:endParaRPr>
          </a:p>
        </p:txBody>
      </p:sp>
      <p:sp>
        <p:nvSpPr>
          <p:cNvPr id="10" name="TextBox 9">
            <a:extLst>
              <a:ext uri="{FF2B5EF4-FFF2-40B4-BE49-F238E27FC236}">
                <a16:creationId xmlns:a16="http://schemas.microsoft.com/office/drawing/2014/main" id="{CB61A9B8-26CC-E9A2-78A6-99B26944E51B}"/>
              </a:ext>
            </a:extLst>
          </p:cNvPr>
          <p:cNvSpPr txBox="1"/>
          <p:nvPr/>
        </p:nvSpPr>
        <p:spPr>
          <a:xfrm>
            <a:off x="220894" y="1249106"/>
            <a:ext cx="8702212" cy="2542363"/>
          </a:xfrm>
          <a:prstGeom prst="rect">
            <a:avLst/>
          </a:prstGeom>
          <a:noFill/>
        </p:spPr>
        <p:txBody>
          <a:bodyPr wrap="square" rtlCol="0">
            <a:spAutoFit/>
          </a:bodyPr>
          <a:lstStyle/>
          <a:p>
            <a:pPr algn="just">
              <a:lnSpc>
                <a:spcPct val="150000"/>
              </a:lnSpc>
            </a:pPr>
            <a:r>
              <a:rPr kumimoji="0" lang="en-US" altLang="en-US" sz="1800" b="1" i="0" u="none" strike="noStrike" cap="none" normalizeH="0" dirty="0">
                <a:ln>
                  <a:noFill/>
                </a:ln>
                <a:solidFill>
                  <a:schemeClr val="tx1"/>
                </a:solidFill>
                <a:effectLst/>
                <a:cs typeface="Arial" panose="020B0604020202020204" pitchFamily="34" charset="0"/>
              </a:rPr>
              <a:t>MODULE 5: </a:t>
            </a:r>
            <a:r>
              <a:rPr lang="en-GB" b="1" dirty="0"/>
              <a:t>Continuous Monitoring</a:t>
            </a:r>
          </a:p>
          <a:p>
            <a:pPr marL="571500" indent="-285750" algn="just">
              <a:lnSpc>
                <a:spcPct val="150000"/>
              </a:lnSpc>
              <a:buFont typeface="Arial" panose="020B0604020202020204" pitchFamily="34" charset="0"/>
              <a:buChar char="•"/>
            </a:pPr>
            <a:r>
              <a:rPr lang="en-GB" dirty="0"/>
              <a:t>The honeypot remains active, waiting for incoming SSH login attempts and fake web login submissions.</a:t>
            </a:r>
          </a:p>
          <a:p>
            <a:pPr marL="571500" indent="-285750" algn="just">
              <a:lnSpc>
                <a:spcPct val="150000"/>
              </a:lnSpc>
              <a:buFont typeface="Arial" panose="020B0604020202020204" pitchFamily="34" charset="0"/>
              <a:buChar char="•"/>
            </a:pPr>
            <a:r>
              <a:rPr lang="en-GB" dirty="0"/>
              <a:t>Every detected attack attempt is logged for further analysis.</a:t>
            </a:r>
          </a:p>
          <a:p>
            <a:pPr marL="571500" indent="-285750" algn="just">
              <a:lnSpc>
                <a:spcPct val="150000"/>
              </a:lnSpc>
              <a:buFont typeface="Arial" panose="020B0604020202020204" pitchFamily="34" charset="0"/>
              <a:buChar char="•"/>
            </a:pPr>
            <a:r>
              <a:rPr lang="en-GB" dirty="0"/>
              <a:t>The script continues running indefinitely to gather threat intelligence</a:t>
            </a:r>
            <a:endParaRPr lang="en-GB" b="1" dirty="0"/>
          </a:p>
          <a:p>
            <a:pPr algn="just">
              <a:lnSpc>
                <a:spcPct val="150000"/>
              </a:lnSpc>
            </a:pPr>
            <a:endParaRPr lang="en-IN" dirty="0"/>
          </a:p>
        </p:txBody>
      </p:sp>
    </p:spTree>
    <p:extLst>
      <p:ext uri="{BB962C8B-B14F-4D97-AF65-F5344CB8AC3E}">
        <p14:creationId xmlns:p14="http://schemas.microsoft.com/office/powerpoint/2010/main" val="2749639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AB3CE-DBFB-32C3-2FCC-09F089E21582}"/>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42DB1E40-8F90-7EA3-CE88-B39D583F90E8}"/>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EBC29589-F871-B708-EC35-60CC69F60C8A}"/>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8978B8F8-F6FE-1BE7-12A2-C5C712FF992D}"/>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A20D6BDD-EB37-649F-F5B0-235D1356A3C4}"/>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88135253-37E4-CBEA-EAA9-FD4412EC095F}"/>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F5E18F3E-8C37-5AA5-6A84-26B3BC97B545}"/>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A9EEBD6F-3951-2B4C-240C-CCF5371628F2}"/>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17</a:t>
            </a:fld>
            <a:endParaRPr lang="en-IN" sz="1400" b="1" dirty="0">
              <a:solidFill>
                <a:schemeClr val="tx1"/>
              </a:solidFill>
            </a:endParaRPr>
          </a:p>
        </p:txBody>
      </p:sp>
      <p:sp>
        <p:nvSpPr>
          <p:cNvPr id="5" name="Rectangle 4">
            <a:extLst>
              <a:ext uri="{FF2B5EF4-FFF2-40B4-BE49-F238E27FC236}">
                <a16:creationId xmlns:a16="http://schemas.microsoft.com/office/drawing/2014/main" id="{51774DF9-1B39-FA06-7E11-E06C4B746B3C}"/>
              </a:ext>
            </a:extLst>
          </p:cNvPr>
          <p:cNvSpPr/>
          <p:nvPr/>
        </p:nvSpPr>
        <p:spPr>
          <a:xfrm>
            <a:off x="0" y="254238"/>
            <a:ext cx="5118965" cy="523220"/>
          </a:xfrm>
          <a:prstGeom prst="rect">
            <a:avLst/>
          </a:prstGeom>
        </p:spPr>
        <p:txBody>
          <a:bodyPr wrap="none">
            <a:spAutoFit/>
          </a:bodyPr>
          <a:lstStyle/>
          <a:p>
            <a:r>
              <a:rPr lang="en-US" sz="2800" b="1" dirty="0">
                <a:solidFill>
                  <a:srgbClr val="17375E"/>
                </a:solidFill>
                <a:cs typeface="Arial" panose="020B0604020202020204" pitchFamily="34" charset="0"/>
              </a:rPr>
              <a:t>System Performance Comparison</a:t>
            </a:r>
            <a:endParaRPr lang="en-IN" sz="2800" dirty="0">
              <a:solidFill>
                <a:srgbClr val="17375E"/>
              </a:solidFill>
            </a:endParaRPr>
          </a:p>
        </p:txBody>
      </p:sp>
      <p:pic>
        <p:nvPicPr>
          <p:cNvPr id="11" name="Picture 10" descr="A graph of a performance comparison&#10;&#10;Description automatically generated">
            <a:extLst>
              <a:ext uri="{FF2B5EF4-FFF2-40B4-BE49-F238E27FC236}">
                <a16:creationId xmlns:a16="http://schemas.microsoft.com/office/drawing/2014/main" id="{9360EA0C-7111-55BF-05A7-BC0AA006CEE6}"/>
              </a:ext>
            </a:extLst>
          </p:cNvPr>
          <p:cNvPicPr>
            <a:picLocks noChangeAspect="1"/>
          </p:cNvPicPr>
          <p:nvPr/>
        </p:nvPicPr>
        <p:blipFill>
          <a:blip r:embed="rId3"/>
          <a:stretch>
            <a:fillRect/>
          </a:stretch>
        </p:blipFill>
        <p:spPr>
          <a:xfrm>
            <a:off x="1714500" y="1575726"/>
            <a:ext cx="5715000" cy="3714750"/>
          </a:xfrm>
          <a:prstGeom prst="rect">
            <a:avLst/>
          </a:prstGeom>
        </p:spPr>
      </p:pic>
    </p:spTree>
    <p:extLst>
      <p:ext uri="{BB962C8B-B14F-4D97-AF65-F5344CB8AC3E}">
        <p14:creationId xmlns:p14="http://schemas.microsoft.com/office/powerpoint/2010/main" val="3533415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A5A81-A704-A900-FEDD-E2E152D08786}"/>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97866A51-7185-BB33-A3CE-B1394D195141}"/>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40D03D9B-64A7-ABED-45D1-1DF22A988CF1}"/>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7481B762-D08C-8829-B4BE-E7CB9566EEB4}"/>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4C4E227E-C502-33C5-0E76-1EACF5FC2CEF}"/>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B637F7D5-30D9-0C54-3A98-C1127886AFED}"/>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EFBA28BC-851C-3BD0-7063-05E0C6C5C53D}"/>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43B907B9-619A-E1F0-098E-607C50E20348}"/>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18</a:t>
            </a:fld>
            <a:endParaRPr lang="en-IN" sz="1400" b="1" dirty="0">
              <a:solidFill>
                <a:schemeClr val="tx1"/>
              </a:solidFill>
            </a:endParaRPr>
          </a:p>
        </p:txBody>
      </p:sp>
      <p:sp>
        <p:nvSpPr>
          <p:cNvPr id="5" name="Rectangle 4">
            <a:extLst>
              <a:ext uri="{FF2B5EF4-FFF2-40B4-BE49-F238E27FC236}">
                <a16:creationId xmlns:a16="http://schemas.microsoft.com/office/drawing/2014/main" id="{6E2D9642-F3B5-8699-39E4-7C49E0E00914}"/>
              </a:ext>
            </a:extLst>
          </p:cNvPr>
          <p:cNvSpPr/>
          <p:nvPr/>
        </p:nvSpPr>
        <p:spPr>
          <a:xfrm>
            <a:off x="0" y="254238"/>
            <a:ext cx="3844707" cy="523220"/>
          </a:xfrm>
          <a:prstGeom prst="rect">
            <a:avLst/>
          </a:prstGeom>
        </p:spPr>
        <p:txBody>
          <a:bodyPr wrap="none">
            <a:spAutoFit/>
          </a:bodyPr>
          <a:lstStyle/>
          <a:p>
            <a:r>
              <a:rPr lang="en-US" sz="2800" b="1" dirty="0">
                <a:solidFill>
                  <a:srgbClr val="17375E"/>
                </a:solidFill>
                <a:cs typeface="Arial" panose="020B0604020202020204" pitchFamily="34" charset="0"/>
              </a:rPr>
              <a:t>CODE IMPLEMENTATION</a:t>
            </a:r>
            <a:endParaRPr lang="en-IN" sz="2800" dirty="0">
              <a:solidFill>
                <a:srgbClr val="17375E"/>
              </a:solidFill>
            </a:endParaRPr>
          </a:p>
        </p:txBody>
      </p:sp>
      <p:pic>
        <p:nvPicPr>
          <p:cNvPr id="11" name="Picture 10">
            <a:extLst>
              <a:ext uri="{FF2B5EF4-FFF2-40B4-BE49-F238E27FC236}">
                <a16:creationId xmlns:a16="http://schemas.microsoft.com/office/drawing/2014/main" id="{3798757C-8094-7629-4F44-C007F0C3F529}"/>
              </a:ext>
            </a:extLst>
          </p:cNvPr>
          <p:cNvPicPr>
            <a:picLocks noChangeAspect="1"/>
          </p:cNvPicPr>
          <p:nvPr/>
        </p:nvPicPr>
        <p:blipFill>
          <a:blip r:embed="rId3"/>
          <a:srcRect/>
          <a:stretch/>
        </p:blipFill>
        <p:spPr>
          <a:xfrm>
            <a:off x="189570" y="1287129"/>
            <a:ext cx="8787161" cy="4283740"/>
          </a:xfrm>
          <a:prstGeom prst="rect">
            <a:avLst/>
          </a:prstGeom>
        </p:spPr>
      </p:pic>
    </p:spTree>
    <p:extLst>
      <p:ext uri="{BB962C8B-B14F-4D97-AF65-F5344CB8AC3E}">
        <p14:creationId xmlns:p14="http://schemas.microsoft.com/office/powerpoint/2010/main" val="448671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4A4BF-CF31-C61E-C5D2-AF69E22EF818}"/>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2CEF71DA-5F7B-EA2F-E1AF-5BCBE5786AE7}"/>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3BC49D35-03C2-4ADB-883A-A26C9EAD112A}"/>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43123156-F78E-32A6-6DEC-CBF98BB5362E}"/>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AD261079-9668-1BC0-56ED-404926AD0512}"/>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87951954-AC8A-0F91-BDD6-4176A98B26B4}"/>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F81D880E-6CAD-044B-2163-6BDDCA380539}"/>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E97369CB-84AB-9AA9-9AC6-42C88AFF01CA}"/>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19</a:t>
            </a:fld>
            <a:endParaRPr lang="en-IN" sz="1400" b="1" dirty="0">
              <a:solidFill>
                <a:schemeClr val="tx1"/>
              </a:solidFill>
            </a:endParaRPr>
          </a:p>
        </p:txBody>
      </p:sp>
      <p:sp>
        <p:nvSpPr>
          <p:cNvPr id="5" name="Rectangle 4">
            <a:extLst>
              <a:ext uri="{FF2B5EF4-FFF2-40B4-BE49-F238E27FC236}">
                <a16:creationId xmlns:a16="http://schemas.microsoft.com/office/drawing/2014/main" id="{60535E7E-4116-B8AF-71E4-F050CDA515A8}"/>
              </a:ext>
            </a:extLst>
          </p:cNvPr>
          <p:cNvSpPr/>
          <p:nvPr/>
        </p:nvSpPr>
        <p:spPr>
          <a:xfrm>
            <a:off x="0" y="254238"/>
            <a:ext cx="3844707" cy="523220"/>
          </a:xfrm>
          <a:prstGeom prst="rect">
            <a:avLst/>
          </a:prstGeom>
        </p:spPr>
        <p:txBody>
          <a:bodyPr wrap="none">
            <a:spAutoFit/>
          </a:bodyPr>
          <a:lstStyle/>
          <a:p>
            <a:r>
              <a:rPr lang="en-US" sz="2800" b="1" dirty="0">
                <a:solidFill>
                  <a:srgbClr val="17375E"/>
                </a:solidFill>
                <a:cs typeface="Arial" panose="020B0604020202020204" pitchFamily="34" charset="0"/>
              </a:rPr>
              <a:t>CODE IMPLEMENTATION</a:t>
            </a:r>
            <a:endParaRPr lang="en-IN" sz="2800" dirty="0">
              <a:solidFill>
                <a:srgbClr val="17375E"/>
              </a:solidFill>
            </a:endParaRPr>
          </a:p>
        </p:txBody>
      </p:sp>
      <p:pic>
        <p:nvPicPr>
          <p:cNvPr id="11" name="Picture 10">
            <a:extLst>
              <a:ext uri="{FF2B5EF4-FFF2-40B4-BE49-F238E27FC236}">
                <a16:creationId xmlns:a16="http://schemas.microsoft.com/office/drawing/2014/main" id="{A590B557-4E42-2E9D-4E06-51B5DAE93C88}"/>
              </a:ext>
            </a:extLst>
          </p:cNvPr>
          <p:cNvPicPr>
            <a:picLocks noChangeAspect="1"/>
          </p:cNvPicPr>
          <p:nvPr/>
        </p:nvPicPr>
        <p:blipFill>
          <a:blip r:embed="rId3"/>
          <a:srcRect/>
          <a:stretch/>
        </p:blipFill>
        <p:spPr>
          <a:xfrm>
            <a:off x="189570" y="1287129"/>
            <a:ext cx="8787161" cy="4283740"/>
          </a:xfrm>
          <a:prstGeom prst="rect">
            <a:avLst/>
          </a:prstGeom>
        </p:spPr>
      </p:pic>
    </p:spTree>
    <p:extLst>
      <p:ext uri="{BB962C8B-B14F-4D97-AF65-F5344CB8AC3E}">
        <p14:creationId xmlns:p14="http://schemas.microsoft.com/office/powerpoint/2010/main" val="591236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4427E-5470-216F-AA69-C3ABD0255601}"/>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FD6BE9C5-5D47-69C2-FE77-1459B2516C5B}"/>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335F6FB1-7C28-1FA8-4D1F-F5F87C4037F8}"/>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48465ECA-90E1-3EFD-ED72-60EAB0E094C1}"/>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99B9CC4E-1683-EDBE-A045-10CDA63EAC84}"/>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3CBD6600-EA47-535C-143E-2C6E97213D8E}"/>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34FA06D9-4575-F896-C54E-60831B6A68F0}"/>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0EAD0755-60B3-72D7-DAF0-64564DFE0468}"/>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20</a:t>
            </a:fld>
            <a:endParaRPr lang="en-IN" sz="1400" b="1" dirty="0">
              <a:solidFill>
                <a:schemeClr val="tx1"/>
              </a:solidFill>
            </a:endParaRPr>
          </a:p>
        </p:txBody>
      </p:sp>
      <p:sp>
        <p:nvSpPr>
          <p:cNvPr id="5" name="Rectangle 4">
            <a:extLst>
              <a:ext uri="{FF2B5EF4-FFF2-40B4-BE49-F238E27FC236}">
                <a16:creationId xmlns:a16="http://schemas.microsoft.com/office/drawing/2014/main" id="{6959C09E-05C1-8F31-57DF-F94182C0FA27}"/>
              </a:ext>
            </a:extLst>
          </p:cNvPr>
          <p:cNvSpPr/>
          <p:nvPr/>
        </p:nvSpPr>
        <p:spPr>
          <a:xfrm>
            <a:off x="0" y="254238"/>
            <a:ext cx="3844707" cy="523220"/>
          </a:xfrm>
          <a:prstGeom prst="rect">
            <a:avLst/>
          </a:prstGeom>
        </p:spPr>
        <p:txBody>
          <a:bodyPr wrap="none">
            <a:spAutoFit/>
          </a:bodyPr>
          <a:lstStyle/>
          <a:p>
            <a:r>
              <a:rPr lang="en-US" sz="2800" b="1" dirty="0">
                <a:solidFill>
                  <a:srgbClr val="17375E"/>
                </a:solidFill>
                <a:cs typeface="Arial" panose="020B0604020202020204" pitchFamily="34" charset="0"/>
              </a:rPr>
              <a:t>CODE IMPLEMENTATION</a:t>
            </a:r>
            <a:endParaRPr lang="en-IN" sz="2800" dirty="0">
              <a:solidFill>
                <a:srgbClr val="17375E"/>
              </a:solidFill>
            </a:endParaRPr>
          </a:p>
        </p:txBody>
      </p:sp>
      <p:pic>
        <p:nvPicPr>
          <p:cNvPr id="11" name="Picture 10">
            <a:extLst>
              <a:ext uri="{FF2B5EF4-FFF2-40B4-BE49-F238E27FC236}">
                <a16:creationId xmlns:a16="http://schemas.microsoft.com/office/drawing/2014/main" id="{A4961071-1C28-4A96-7CC5-0D6E6DC10793}"/>
              </a:ext>
            </a:extLst>
          </p:cNvPr>
          <p:cNvPicPr>
            <a:picLocks noChangeAspect="1"/>
          </p:cNvPicPr>
          <p:nvPr/>
        </p:nvPicPr>
        <p:blipFill>
          <a:blip r:embed="rId3"/>
          <a:srcRect/>
          <a:stretch/>
        </p:blipFill>
        <p:spPr>
          <a:xfrm>
            <a:off x="202468" y="1293416"/>
            <a:ext cx="8761365" cy="4271165"/>
          </a:xfrm>
          <a:prstGeom prst="rect">
            <a:avLst/>
          </a:prstGeom>
        </p:spPr>
      </p:pic>
    </p:spTree>
    <p:extLst>
      <p:ext uri="{BB962C8B-B14F-4D97-AF65-F5344CB8AC3E}">
        <p14:creationId xmlns:p14="http://schemas.microsoft.com/office/powerpoint/2010/main" val="1278324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6F499-822B-C7B4-E6BA-AC324C0025BF}"/>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D727C4FC-CA93-D5CA-FD52-159148705B17}"/>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D65CA438-F8F2-918E-1D0E-A1162E91A9D8}"/>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3D00B897-749C-4C22-AE5B-9F3569C42DBE}"/>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049AE796-C4DE-5584-5BE2-B6EABEA1AF2D}"/>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D09A60FE-D233-2745-08B7-3954D404D876}"/>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342845FA-7789-67DB-6C8C-7D94807BA131}"/>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3EA43CFA-01A2-7EA8-FB6A-0062617DE11D}"/>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21</a:t>
            </a:fld>
            <a:endParaRPr lang="en-IN" sz="1400" b="1" dirty="0">
              <a:solidFill>
                <a:schemeClr val="tx1"/>
              </a:solidFill>
            </a:endParaRPr>
          </a:p>
        </p:txBody>
      </p:sp>
      <p:sp>
        <p:nvSpPr>
          <p:cNvPr id="5" name="Rectangle 4">
            <a:extLst>
              <a:ext uri="{FF2B5EF4-FFF2-40B4-BE49-F238E27FC236}">
                <a16:creationId xmlns:a16="http://schemas.microsoft.com/office/drawing/2014/main" id="{0D71B7EA-6F1F-9D8A-3266-82CCF85E8E1C}"/>
              </a:ext>
            </a:extLst>
          </p:cNvPr>
          <p:cNvSpPr/>
          <p:nvPr/>
        </p:nvSpPr>
        <p:spPr>
          <a:xfrm>
            <a:off x="0" y="254238"/>
            <a:ext cx="3844707" cy="523220"/>
          </a:xfrm>
          <a:prstGeom prst="rect">
            <a:avLst/>
          </a:prstGeom>
        </p:spPr>
        <p:txBody>
          <a:bodyPr wrap="none">
            <a:spAutoFit/>
          </a:bodyPr>
          <a:lstStyle/>
          <a:p>
            <a:r>
              <a:rPr lang="en-US" sz="2800" b="1" dirty="0">
                <a:solidFill>
                  <a:srgbClr val="17375E"/>
                </a:solidFill>
                <a:cs typeface="Arial" panose="020B0604020202020204" pitchFamily="34" charset="0"/>
              </a:rPr>
              <a:t>CODE IMPLEMENTATION</a:t>
            </a:r>
            <a:endParaRPr lang="en-IN" sz="2800" dirty="0">
              <a:solidFill>
                <a:srgbClr val="17375E"/>
              </a:solidFill>
            </a:endParaRPr>
          </a:p>
        </p:txBody>
      </p:sp>
      <p:pic>
        <p:nvPicPr>
          <p:cNvPr id="11" name="Picture 10">
            <a:extLst>
              <a:ext uri="{FF2B5EF4-FFF2-40B4-BE49-F238E27FC236}">
                <a16:creationId xmlns:a16="http://schemas.microsoft.com/office/drawing/2014/main" id="{F4AAA1F6-B411-2F0A-8A0B-BDAF236CAFBF}"/>
              </a:ext>
            </a:extLst>
          </p:cNvPr>
          <p:cNvPicPr>
            <a:picLocks noChangeAspect="1"/>
          </p:cNvPicPr>
          <p:nvPr/>
        </p:nvPicPr>
        <p:blipFill>
          <a:blip r:embed="rId3"/>
          <a:srcRect/>
          <a:stretch/>
        </p:blipFill>
        <p:spPr>
          <a:xfrm>
            <a:off x="202468" y="1293416"/>
            <a:ext cx="8761364" cy="4271165"/>
          </a:xfrm>
          <a:prstGeom prst="rect">
            <a:avLst/>
          </a:prstGeom>
        </p:spPr>
      </p:pic>
    </p:spTree>
    <p:extLst>
      <p:ext uri="{BB962C8B-B14F-4D97-AF65-F5344CB8AC3E}">
        <p14:creationId xmlns:p14="http://schemas.microsoft.com/office/powerpoint/2010/main" val="2597793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8F73D-9004-8742-68FE-02E1C535A8FB}"/>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D0223EFA-C048-B536-56AF-28663F0BEB19}"/>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36E3E754-9340-CCEF-73F2-5937040A01AD}"/>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708EF7AB-8319-0EC9-A942-C5DADDC45C74}"/>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D3F0B58C-CCFE-FD0E-B032-3385FA8DB0BE}"/>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E95A7C54-A8E5-15A4-CB81-C1A3E808DC34}"/>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25652016-B221-A654-4EA0-E28B95B33653}"/>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7588E1DE-3775-570D-629E-8AE292B1601A}"/>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22</a:t>
            </a:fld>
            <a:endParaRPr lang="en-IN" sz="1400" b="1" dirty="0">
              <a:solidFill>
                <a:schemeClr val="tx1"/>
              </a:solidFill>
            </a:endParaRPr>
          </a:p>
        </p:txBody>
      </p:sp>
      <p:sp>
        <p:nvSpPr>
          <p:cNvPr id="5" name="Rectangle 4">
            <a:extLst>
              <a:ext uri="{FF2B5EF4-FFF2-40B4-BE49-F238E27FC236}">
                <a16:creationId xmlns:a16="http://schemas.microsoft.com/office/drawing/2014/main" id="{FE2EA311-B73C-7546-3181-30500B1F0F9F}"/>
              </a:ext>
            </a:extLst>
          </p:cNvPr>
          <p:cNvSpPr/>
          <p:nvPr/>
        </p:nvSpPr>
        <p:spPr>
          <a:xfrm>
            <a:off x="0" y="254238"/>
            <a:ext cx="3844707" cy="523220"/>
          </a:xfrm>
          <a:prstGeom prst="rect">
            <a:avLst/>
          </a:prstGeom>
        </p:spPr>
        <p:txBody>
          <a:bodyPr wrap="none">
            <a:spAutoFit/>
          </a:bodyPr>
          <a:lstStyle/>
          <a:p>
            <a:r>
              <a:rPr lang="en-US" sz="2800" b="1" dirty="0">
                <a:solidFill>
                  <a:srgbClr val="17375E"/>
                </a:solidFill>
                <a:cs typeface="Arial" panose="020B0604020202020204" pitchFamily="34" charset="0"/>
              </a:rPr>
              <a:t>CODE IMPLEMENTATION</a:t>
            </a:r>
            <a:endParaRPr lang="en-IN" sz="2800" dirty="0">
              <a:solidFill>
                <a:srgbClr val="17375E"/>
              </a:solidFill>
            </a:endParaRPr>
          </a:p>
        </p:txBody>
      </p:sp>
      <p:pic>
        <p:nvPicPr>
          <p:cNvPr id="11" name="Picture 10">
            <a:extLst>
              <a:ext uri="{FF2B5EF4-FFF2-40B4-BE49-F238E27FC236}">
                <a16:creationId xmlns:a16="http://schemas.microsoft.com/office/drawing/2014/main" id="{4D4FE5B5-A479-721B-6651-303757AE6011}"/>
              </a:ext>
            </a:extLst>
          </p:cNvPr>
          <p:cNvPicPr>
            <a:picLocks noChangeAspect="1"/>
          </p:cNvPicPr>
          <p:nvPr/>
        </p:nvPicPr>
        <p:blipFill>
          <a:blip r:embed="rId3"/>
          <a:srcRect/>
          <a:stretch/>
        </p:blipFill>
        <p:spPr>
          <a:xfrm>
            <a:off x="559286" y="1467365"/>
            <a:ext cx="8047729" cy="3923267"/>
          </a:xfrm>
          <a:prstGeom prst="rect">
            <a:avLst/>
          </a:prstGeom>
        </p:spPr>
      </p:pic>
    </p:spTree>
    <p:extLst>
      <p:ext uri="{BB962C8B-B14F-4D97-AF65-F5344CB8AC3E}">
        <p14:creationId xmlns:p14="http://schemas.microsoft.com/office/powerpoint/2010/main" val="3582651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C8601-E5C5-D4BA-98BF-1989BF6403A8}"/>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C72D1424-1EBC-0910-A796-25160CA5C3C0}"/>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AD1CF035-8AC4-39E6-17DE-6FFDFC227F32}"/>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556E14AC-8400-836F-3603-9FD43B818F38}"/>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7632DD12-FBF2-CD8B-D7D3-B794E59818C2}"/>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782EA676-DC13-947C-B373-4734DF141100}"/>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6572C551-6BF6-3C04-F32D-CBDAB5C262D5}"/>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4C161012-A8BC-8068-A02E-AC029E6828F1}"/>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23</a:t>
            </a:fld>
            <a:endParaRPr lang="en-IN" sz="1400" b="1" dirty="0">
              <a:solidFill>
                <a:schemeClr val="tx1"/>
              </a:solidFill>
            </a:endParaRPr>
          </a:p>
        </p:txBody>
      </p:sp>
      <p:sp>
        <p:nvSpPr>
          <p:cNvPr id="5" name="Rectangle 4">
            <a:extLst>
              <a:ext uri="{FF2B5EF4-FFF2-40B4-BE49-F238E27FC236}">
                <a16:creationId xmlns:a16="http://schemas.microsoft.com/office/drawing/2014/main" id="{B1A28FE9-493C-F3B4-8DE1-DF8482AEC673}"/>
              </a:ext>
            </a:extLst>
          </p:cNvPr>
          <p:cNvSpPr/>
          <p:nvPr/>
        </p:nvSpPr>
        <p:spPr>
          <a:xfrm>
            <a:off x="0" y="254238"/>
            <a:ext cx="3844707" cy="523220"/>
          </a:xfrm>
          <a:prstGeom prst="rect">
            <a:avLst/>
          </a:prstGeom>
        </p:spPr>
        <p:txBody>
          <a:bodyPr wrap="none">
            <a:spAutoFit/>
          </a:bodyPr>
          <a:lstStyle/>
          <a:p>
            <a:r>
              <a:rPr lang="en-US" sz="2800" b="1" dirty="0">
                <a:solidFill>
                  <a:srgbClr val="17375E"/>
                </a:solidFill>
                <a:cs typeface="Arial" panose="020B0604020202020204" pitchFamily="34" charset="0"/>
              </a:rPr>
              <a:t>CODE IMPLEMENTATION</a:t>
            </a:r>
            <a:endParaRPr lang="en-IN" sz="2800" dirty="0">
              <a:solidFill>
                <a:srgbClr val="17375E"/>
              </a:solidFill>
            </a:endParaRPr>
          </a:p>
        </p:txBody>
      </p:sp>
      <p:pic>
        <p:nvPicPr>
          <p:cNvPr id="11" name="Picture 10">
            <a:extLst>
              <a:ext uri="{FF2B5EF4-FFF2-40B4-BE49-F238E27FC236}">
                <a16:creationId xmlns:a16="http://schemas.microsoft.com/office/drawing/2014/main" id="{D1B592BC-ACBB-C761-C161-76265FADBE7D}"/>
              </a:ext>
            </a:extLst>
          </p:cNvPr>
          <p:cNvPicPr>
            <a:picLocks noChangeAspect="1"/>
          </p:cNvPicPr>
          <p:nvPr/>
        </p:nvPicPr>
        <p:blipFill>
          <a:blip r:embed="rId3"/>
          <a:srcRect/>
          <a:stretch/>
        </p:blipFill>
        <p:spPr>
          <a:xfrm>
            <a:off x="559286" y="1467365"/>
            <a:ext cx="8047729" cy="3923267"/>
          </a:xfrm>
          <a:prstGeom prst="rect">
            <a:avLst/>
          </a:prstGeom>
        </p:spPr>
      </p:pic>
    </p:spTree>
    <p:extLst>
      <p:ext uri="{BB962C8B-B14F-4D97-AF65-F5344CB8AC3E}">
        <p14:creationId xmlns:p14="http://schemas.microsoft.com/office/powerpoint/2010/main" val="950372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D52E8-7575-2527-9A98-630B7EAC11D9}"/>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ECE6F157-814D-F611-59CB-E7218180585B}"/>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63F35687-A1F1-755E-EFE3-0E2E48D25805}"/>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1B2C3F30-84A8-72E2-E890-15BD1ED95093}"/>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DBA66557-C62D-AE97-72BC-FE48DC4B7A6D}"/>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1461283C-BA77-FC70-29F7-FF30DFEFD553}"/>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3F3C0219-6473-E3F4-1644-DDE9ECB5FBAC}"/>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D8E1E180-98A8-A5D4-E52E-9E78B7433164}"/>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24</a:t>
            </a:fld>
            <a:endParaRPr lang="en-IN" sz="1400" b="1" dirty="0">
              <a:solidFill>
                <a:schemeClr val="tx1"/>
              </a:solidFill>
            </a:endParaRPr>
          </a:p>
        </p:txBody>
      </p:sp>
      <p:sp>
        <p:nvSpPr>
          <p:cNvPr id="5" name="Rectangle 4">
            <a:extLst>
              <a:ext uri="{FF2B5EF4-FFF2-40B4-BE49-F238E27FC236}">
                <a16:creationId xmlns:a16="http://schemas.microsoft.com/office/drawing/2014/main" id="{5B9D5E25-3B18-3CC1-0FC8-EED8E82D0D06}"/>
              </a:ext>
            </a:extLst>
          </p:cNvPr>
          <p:cNvSpPr/>
          <p:nvPr/>
        </p:nvSpPr>
        <p:spPr>
          <a:xfrm>
            <a:off x="0" y="254238"/>
            <a:ext cx="3665491" cy="523220"/>
          </a:xfrm>
          <a:prstGeom prst="rect">
            <a:avLst/>
          </a:prstGeom>
        </p:spPr>
        <p:txBody>
          <a:bodyPr wrap="none">
            <a:spAutoFit/>
          </a:bodyPr>
          <a:lstStyle/>
          <a:p>
            <a:r>
              <a:rPr lang="en-IN" sz="2800" b="1" dirty="0">
                <a:solidFill>
                  <a:srgbClr val="17375E"/>
                </a:solidFill>
                <a:cs typeface="Arial" panose="020B0604020202020204" pitchFamily="34" charset="0"/>
              </a:rPr>
              <a:t>RESULT WITH ANALYSIS</a:t>
            </a:r>
            <a:endParaRPr lang="en-IN" sz="2800" dirty="0"/>
          </a:p>
        </p:txBody>
      </p:sp>
      <p:pic>
        <p:nvPicPr>
          <p:cNvPr id="11" name="Picture 10">
            <a:extLst>
              <a:ext uri="{FF2B5EF4-FFF2-40B4-BE49-F238E27FC236}">
                <a16:creationId xmlns:a16="http://schemas.microsoft.com/office/drawing/2014/main" id="{1B665C9C-B4E1-9FD5-D0B1-9C48C6956D88}"/>
              </a:ext>
            </a:extLst>
          </p:cNvPr>
          <p:cNvPicPr>
            <a:picLocks noChangeAspect="1"/>
          </p:cNvPicPr>
          <p:nvPr/>
        </p:nvPicPr>
        <p:blipFill>
          <a:blip r:embed="rId3"/>
          <a:srcRect/>
          <a:stretch/>
        </p:blipFill>
        <p:spPr>
          <a:xfrm>
            <a:off x="559286" y="2047777"/>
            <a:ext cx="8047729" cy="2762442"/>
          </a:xfrm>
          <a:prstGeom prst="rect">
            <a:avLst/>
          </a:prstGeom>
        </p:spPr>
      </p:pic>
    </p:spTree>
    <p:extLst>
      <p:ext uri="{BB962C8B-B14F-4D97-AF65-F5344CB8AC3E}">
        <p14:creationId xmlns:p14="http://schemas.microsoft.com/office/powerpoint/2010/main" val="3338697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517B2-DB9B-68A8-58E0-561757233CDA}"/>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43054915-C0C1-6EF0-5AFE-F28AB7C42010}"/>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D241F797-2955-9BFE-97E4-EE139BDF3161}"/>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DE07DCB5-3393-4E8C-86B4-089A4A4B9175}"/>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945E4E86-A9FA-4DFE-60E9-3719C19BDB15}"/>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D142BE05-FC55-C83D-F902-CEB765FF4EE6}"/>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E03B26E1-EA86-1B74-FC86-93269F21E629}"/>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7D7DD693-70B6-7EE8-AD0A-0C8CB096AFD5}"/>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25</a:t>
            </a:fld>
            <a:endParaRPr lang="en-IN" sz="1400" b="1" dirty="0">
              <a:solidFill>
                <a:schemeClr val="tx1"/>
              </a:solidFill>
            </a:endParaRPr>
          </a:p>
        </p:txBody>
      </p:sp>
      <p:sp>
        <p:nvSpPr>
          <p:cNvPr id="5" name="Rectangle 4">
            <a:extLst>
              <a:ext uri="{FF2B5EF4-FFF2-40B4-BE49-F238E27FC236}">
                <a16:creationId xmlns:a16="http://schemas.microsoft.com/office/drawing/2014/main" id="{E8B90647-EAA3-236B-F518-201DE688B705}"/>
              </a:ext>
            </a:extLst>
          </p:cNvPr>
          <p:cNvSpPr/>
          <p:nvPr/>
        </p:nvSpPr>
        <p:spPr>
          <a:xfrm>
            <a:off x="0" y="254238"/>
            <a:ext cx="3665491" cy="523220"/>
          </a:xfrm>
          <a:prstGeom prst="rect">
            <a:avLst/>
          </a:prstGeom>
        </p:spPr>
        <p:txBody>
          <a:bodyPr wrap="none">
            <a:spAutoFit/>
          </a:bodyPr>
          <a:lstStyle/>
          <a:p>
            <a:r>
              <a:rPr lang="en-IN" sz="2800" b="1" dirty="0">
                <a:solidFill>
                  <a:srgbClr val="17375E"/>
                </a:solidFill>
                <a:cs typeface="Arial" panose="020B0604020202020204" pitchFamily="34" charset="0"/>
              </a:rPr>
              <a:t>RESULT WITH ANALYSIS</a:t>
            </a:r>
            <a:endParaRPr lang="en-IN" sz="2800" dirty="0"/>
          </a:p>
        </p:txBody>
      </p:sp>
      <p:pic>
        <p:nvPicPr>
          <p:cNvPr id="11" name="Picture 10">
            <a:extLst>
              <a:ext uri="{FF2B5EF4-FFF2-40B4-BE49-F238E27FC236}">
                <a16:creationId xmlns:a16="http://schemas.microsoft.com/office/drawing/2014/main" id="{0DCBAF4B-F06C-08D2-9519-F8E700C0D925}"/>
              </a:ext>
            </a:extLst>
          </p:cNvPr>
          <p:cNvPicPr>
            <a:picLocks noChangeAspect="1"/>
          </p:cNvPicPr>
          <p:nvPr/>
        </p:nvPicPr>
        <p:blipFill>
          <a:blip r:embed="rId3"/>
          <a:srcRect/>
          <a:stretch/>
        </p:blipFill>
        <p:spPr>
          <a:xfrm>
            <a:off x="1048512" y="1192705"/>
            <a:ext cx="7132319" cy="4512474"/>
          </a:xfrm>
          <a:prstGeom prst="rect">
            <a:avLst/>
          </a:prstGeom>
        </p:spPr>
      </p:pic>
    </p:spTree>
    <p:extLst>
      <p:ext uri="{BB962C8B-B14F-4D97-AF65-F5344CB8AC3E}">
        <p14:creationId xmlns:p14="http://schemas.microsoft.com/office/powerpoint/2010/main" val="2978965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4A2E4-5B58-B9A1-34D4-1DB65CC189F9}"/>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CA1D19DD-BA14-806E-A3A9-9D48A4C8E0F3}"/>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98155921-3036-B596-503D-C65266DB16E5}"/>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DC095279-1D5B-7871-8AA7-8476C1A4A239}"/>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041E747C-D5D8-E295-6677-3C7522786241}"/>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C17E9E13-3886-A121-3233-3C484C420E7E}"/>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F877D35B-0B9E-1F2F-77AA-BE2992CB1D31}"/>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57A54289-C258-351A-5F30-54999E3D45BD}"/>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26</a:t>
            </a:fld>
            <a:endParaRPr lang="en-IN" sz="1400" b="1" dirty="0">
              <a:solidFill>
                <a:schemeClr val="tx1"/>
              </a:solidFill>
            </a:endParaRPr>
          </a:p>
        </p:txBody>
      </p:sp>
      <p:sp>
        <p:nvSpPr>
          <p:cNvPr id="5" name="Rectangle 4">
            <a:extLst>
              <a:ext uri="{FF2B5EF4-FFF2-40B4-BE49-F238E27FC236}">
                <a16:creationId xmlns:a16="http://schemas.microsoft.com/office/drawing/2014/main" id="{DC8EB353-46B3-A914-5E63-6CCD0B306473}"/>
              </a:ext>
            </a:extLst>
          </p:cNvPr>
          <p:cNvSpPr/>
          <p:nvPr/>
        </p:nvSpPr>
        <p:spPr>
          <a:xfrm>
            <a:off x="0" y="254238"/>
            <a:ext cx="3665491" cy="523220"/>
          </a:xfrm>
          <a:prstGeom prst="rect">
            <a:avLst/>
          </a:prstGeom>
        </p:spPr>
        <p:txBody>
          <a:bodyPr wrap="none">
            <a:spAutoFit/>
          </a:bodyPr>
          <a:lstStyle/>
          <a:p>
            <a:r>
              <a:rPr lang="en-IN" sz="2800" b="1" dirty="0">
                <a:solidFill>
                  <a:srgbClr val="17375E"/>
                </a:solidFill>
                <a:cs typeface="Arial" panose="020B0604020202020204" pitchFamily="34" charset="0"/>
              </a:rPr>
              <a:t>RESULT WITH ANALYSIS</a:t>
            </a:r>
            <a:endParaRPr lang="en-IN" sz="2800" dirty="0"/>
          </a:p>
        </p:txBody>
      </p:sp>
      <p:pic>
        <p:nvPicPr>
          <p:cNvPr id="11" name="Picture 10">
            <a:extLst>
              <a:ext uri="{FF2B5EF4-FFF2-40B4-BE49-F238E27FC236}">
                <a16:creationId xmlns:a16="http://schemas.microsoft.com/office/drawing/2014/main" id="{17691182-463A-9EB9-B878-6691E00CB172}"/>
              </a:ext>
            </a:extLst>
          </p:cNvPr>
          <p:cNvPicPr>
            <a:picLocks noChangeAspect="1"/>
          </p:cNvPicPr>
          <p:nvPr/>
        </p:nvPicPr>
        <p:blipFill>
          <a:blip r:embed="rId3"/>
          <a:srcRect/>
          <a:stretch/>
        </p:blipFill>
        <p:spPr>
          <a:xfrm>
            <a:off x="1416363" y="2065812"/>
            <a:ext cx="6333574" cy="2726373"/>
          </a:xfrm>
          <a:prstGeom prst="rect">
            <a:avLst/>
          </a:prstGeom>
        </p:spPr>
      </p:pic>
    </p:spTree>
    <p:extLst>
      <p:ext uri="{BB962C8B-B14F-4D97-AF65-F5344CB8AC3E}">
        <p14:creationId xmlns:p14="http://schemas.microsoft.com/office/powerpoint/2010/main" val="2617809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E7B3A-27A6-D6A6-DA39-6A4EE79B7BAC}"/>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77652892-4E46-A063-597B-18C8B5F0AF87}"/>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1EDDE0CD-52E9-BBE7-BF8B-2E409AFD2E2D}"/>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BCCC5854-96ED-1024-0584-A817463C9717}"/>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2568AE07-77DC-4C8B-6AE8-99CCE57E3D79}"/>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AED8EF26-8031-FCB9-7FFC-8B9C831AD708}"/>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0BCAFE3F-D50F-AD02-A91E-6F6D60D8CC41}"/>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1C2A7903-82C4-BA3B-E4BB-09735F179717}"/>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27</a:t>
            </a:fld>
            <a:endParaRPr lang="en-IN" sz="1400" b="1" dirty="0">
              <a:solidFill>
                <a:schemeClr val="tx1"/>
              </a:solidFill>
            </a:endParaRPr>
          </a:p>
        </p:txBody>
      </p:sp>
      <p:sp>
        <p:nvSpPr>
          <p:cNvPr id="5" name="Rectangle 4">
            <a:extLst>
              <a:ext uri="{FF2B5EF4-FFF2-40B4-BE49-F238E27FC236}">
                <a16:creationId xmlns:a16="http://schemas.microsoft.com/office/drawing/2014/main" id="{BB1BE364-9F91-E205-07E0-0D6B75BCE165}"/>
              </a:ext>
            </a:extLst>
          </p:cNvPr>
          <p:cNvSpPr/>
          <p:nvPr/>
        </p:nvSpPr>
        <p:spPr>
          <a:xfrm>
            <a:off x="0" y="254238"/>
            <a:ext cx="3665491" cy="523220"/>
          </a:xfrm>
          <a:prstGeom prst="rect">
            <a:avLst/>
          </a:prstGeom>
        </p:spPr>
        <p:txBody>
          <a:bodyPr wrap="none">
            <a:spAutoFit/>
          </a:bodyPr>
          <a:lstStyle/>
          <a:p>
            <a:r>
              <a:rPr lang="en-IN" sz="2800" b="1" dirty="0">
                <a:solidFill>
                  <a:srgbClr val="17375E"/>
                </a:solidFill>
                <a:cs typeface="Arial" panose="020B0604020202020204" pitchFamily="34" charset="0"/>
              </a:rPr>
              <a:t>RESULT WITH ANALYSIS</a:t>
            </a:r>
            <a:endParaRPr lang="en-IN" sz="2800" dirty="0"/>
          </a:p>
        </p:txBody>
      </p:sp>
      <p:pic>
        <p:nvPicPr>
          <p:cNvPr id="11" name="Picture 10">
            <a:extLst>
              <a:ext uri="{FF2B5EF4-FFF2-40B4-BE49-F238E27FC236}">
                <a16:creationId xmlns:a16="http://schemas.microsoft.com/office/drawing/2014/main" id="{5D562302-FE39-4414-A19B-D77E3E4576F1}"/>
              </a:ext>
            </a:extLst>
          </p:cNvPr>
          <p:cNvPicPr>
            <a:picLocks noChangeAspect="1"/>
          </p:cNvPicPr>
          <p:nvPr/>
        </p:nvPicPr>
        <p:blipFill>
          <a:blip r:embed="rId3"/>
          <a:srcRect/>
          <a:stretch/>
        </p:blipFill>
        <p:spPr>
          <a:xfrm>
            <a:off x="1416363" y="2442216"/>
            <a:ext cx="6333574" cy="1973564"/>
          </a:xfrm>
          <a:prstGeom prst="rect">
            <a:avLst/>
          </a:prstGeom>
        </p:spPr>
      </p:pic>
    </p:spTree>
    <p:extLst>
      <p:ext uri="{BB962C8B-B14F-4D97-AF65-F5344CB8AC3E}">
        <p14:creationId xmlns:p14="http://schemas.microsoft.com/office/powerpoint/2010/main" val="1817060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223FD-D675-9DA5-4315-992FC481A238}"/>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D52BD26B-2490-0282-05C4-36BF802FD3C9}"/>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E7FC6A27-D0DC-E6D2-D86E-A435F9345130}"/>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0C5788A3-F99B-8BBD-37E2-395A3C47202A}"/>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5A622BBA-802A-6C9F-2AB4-FA7A50234045}"/>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2E6D37A9-9037-85E9-5610-7B46B823E754}"/>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F995CA27-E355-E31E-4008-63E29271ACD7}"/>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166AA1EA-B2CE-FB27-EEEA-FAB260388EC9}"/>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28</a:t>
            </a:fld>
            <a:endParaRPr lang="en-IN" sz="1400" b="1" dirty="0">
              <a:solidFill>
                <a:schemeClr val="tx1"/>
              </a:solidFill>
            </a:endParaRPr>
          </a:p>
        </p:txBody>
      </p:sp>
      <p:sp>
        <p:nvSpPr>
          <p:cNvPr id="5" name="Rectangle 4">
            <a:extLst>
              <a:ext uri="{FF2B5EF4-FFF2-40B4-BE49-F238E27FC236}">
                <a16:creationId xmlns:a16="http://schemas.microsoft.com/office/drawing/2014/main" id="{09E9888C-3B42-8F63-FDD7-9C67B733DA61}"/>
              </a:ext>
            </a:extLst>
          </p:cNvPr>
          <p:cNvSpPr/>
          <p:nvPr/>
        </p:nvSpPr>
        <p:spPr>
          <a:xfrm>
            <a:off x="0" y="254238"/>
            <a:ext cx="3665491" cy="523220"/>
          </a:xfrm>
          <a:prstGeom prst="rect">
            <a:avLst/>
          </a:prstGeom>
        </p:spPr>
        <p:txBody>
          <a:bodyPr wrap="none">
            <a:spAutoFit/>
          </a:bodyPr>
          <a:lstStyle/>
          <a:p>
            <a:r>
              <a:rPr lang="en-IN" sz="2800" b="1" dirty="0">
                <a:solidFill>
                  <a:srgbClr val="17375E"/>
                </a:solidFill>
                <a:cs typeface="Arial" panose="020B0604020202020204" pitchFamily="34" charset="0"/>
              </a:rPr>
              <a:t>RESULT WITH ANALYSIS</a:t>
            </a:r>
            <a:endParaRPr lang="en-IN" sz="2800" dirty="0"/>
          </a:p>
        </p:txBody>
      </p:sp>
      <p:pic>
        <p:nvPicPr>
          <p:cNvPr id="11" name="Picture 10">
            <a:extLst>
              <a:ext uri="{FF2B5EF4-FFF2-40B4-BE49-F238E27FC236}">
                <a16:creationId xmlns:a16="http://schemas.microsoft.com/office/drawing/2014/main" id="{87409E49-AADF-D40B-9E4D-BC26BA1A0EE2}"/>
              </a:ext>
            </a:extLst>
          </p:cNvPr>
          <p:cNvPicPr>
            <a:picLocks noChangeAspect="1"/>
          </p:cNvPicPr>
          <p:nvPr/>
        </p:nvPicPr>
        <p:blipFill>
          <a:blip r:embed="rId3"/>
          <a:srcRect/>
          <a:stretch/>
        </p:blipFill>
        <p:spPr>
          <a:xfrm>
            <a:off x="559286" y="2065812"/>
            <a:ext cx="8047729" cy="2726373"/>
          </a:xfrm>
          <a:prstGeom prst="rect">
            <a:avLst/>
          </a:prstGeom>
        </p:spPr>
      </p:pic>
    </p:spTree>
    <p:extLst>
      <p:ext uri="{BB962C8B-B14F-4D97-AF65-F5344CB8AC3E}">
        <p14:creationId xmlns:p14="http://schemas.microsoft.com/office/powerpoint/2010/main" val="1973053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13189-2D41-E61B-053C-B035448D4E40}"/>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BB0C66C1-3107-37FA-DA90-47A9496FA904}"/>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FC484F4B-E4F5-417C-235F-A73C0A69F8EA}"/>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8A5CFDF3-4DAE-70D4-0374-003CC73D35EE}"/>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75A7B4CE-1938-4808-F97F-164906F0C197}"/>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2938418A-C77C-8F60-7A77-501966281D92}"/>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E1793CF1-1545-A48E-42F4-564ADF516486}"/>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3F24F7B6-4334-F7F4-25F1-529F1B7A68D9}"/>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29</a:t>
            </a:fld>
            <a:endParaRPr lang="en-IN" sz="1400" b="1" dirty="0">
              <a:solidFill>
                <a:schemeClr val="tx1"/>
              </a:solidFill>
            </a:endParaRPr>
          </a:p>
        </p:txBody>
      </p:sp>
      <p:sp>
        <p:nvSpPr>
          <p:cNvPr id="5" name="Rectangle 4">
            <a:extLst>
              <a:ext uri="{FF2B5EF4-FFF2-40B4-BE49-F238E27FC236}">
                <a16:creationId xmlns:a16="http://schemas.microsoft.com/office/drawing/2014/main" id="{E0C87C98-C7B5-A05D-4F9E-A2E6B9EE56B6}"/>
              </a:ext>
            </a:extLst>
          </p:cNvPr>
          <p:cNvSpPr/>
          <p:nvPr/>
        </p:nvSpPr>
        <p:spPr>
          <a:xfrm>
            <a:off x="74391" y="201406"/>
            <a:ext cx="2165786" cy="523220"/>
          </a:xfrm>
          <a:prstGeom prst="rect">
            <a:avLst/>
          </a:prstGeom>
        </p:spPr>
        <p:txBody>
          <a:bodyPr wrap="none">
            <a:spAutoFit/>
          </a:bodyPr>
          <a:lstStyle/>
          <a:p>
            <a:r>
              <a:rPr lang="en-IN" sz="2800" b="1" dirty="0">
                <a:solidFill>
                  <a:srgbClr val="17375E"/>
                </a:solidFill>
                <a:cs typeface="Arial" panose="020B0604020202020204" pitchFamily="34" charset="0"/>
              </a:rPr>
              <a:t>CONCLUSION</a:t>
            </a:r>
            <a:endParaRPr lang="en-IN" sz="2800" dirty="0"/>
          </a:p>
        </p:txBody>
      </p:sp>
      <p:sp>
        <p:nvSpPr>
          <p:cNvPr id="6" name="TextBox 5">
            <a:extLst>
              <a:ext uri="{FF2B5EF4-FFF2-40B4-BE49-F238E27FC236}">
                <a16:creationId xmlns:a16="http://schemas.microsoft.com/office/drawing/2014/main" id="{A0C7DC3C-3AF5-2B2E-2ED5-6A9E7EA4B983}"/>
              </a:ext>
            </a:extLst>
          </p:cNvPr>
          <p:cNvSpPr txBox="1"/>
          <p:nvPr/>
        </p:nvSpPr>
        <p:spPr>
          <a:xfrm>
            <a:off x="170688" y="1231392"/>
            <a:ext cx="8827008" cy="5355312"/>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effectLst/>
                <a:latin typeface="+mj-lt"/>
                <a:ea typeface="Calibri" panose="020F0502020204030204" pitchFamily="34" charset="0"/>
                <a:cs typeface="Arial" panose="020B0604020202020204" pitchFamily="34" charset="0"/>
              </a:rPr>
              <a:t>The honeypot project successfully delivers a lightweight, modular system designed to deceive attackers, capture their interactions and provide actionable cybersecurity intelligence. By simulating vulnerable SSH and HTTP services mimicking an SSH server and a WordPress login page the system effectively attracts malicious activity, logging critical details such as IP addresses, credentials and commands. The integration of a command line launcher, robust data parsing and an interactive dashboard ensures that users can easily deploy the system and interpret its findings. This project </a:t>
            </a:r>
            <a:r>
              <a:rPr lang="en-IN" sz="1800" dirty="0" err="1">
                <a:effectLst/>
                <a:latin typeface="+mj-lt"/>
                <a:ea typeface="Calibri" panose="020F0502020204030204" pitchFamily="34" charset="0"/>
                <a:cs typeface="Arial" panose="020B0604020202020204" pitchFamily="34" charset="0"/>
              </a:rPr>
              <a:t>fulfills</a:t>
            </a:r>
            <a:r>
              <a:rPr lang="en-IN" sz="1800" dirty="0">
                <a:effectLst/>
                <a:latin typeface="+mj-lt"/>
                <a:ea typeface="Calibri" panose="020F0502020204030204" pitchFamily="34" charset="0"/>
                <a:cs typeface="Arial" panose="020B0604020202020204" pitchFamily="34" charset="0"/>
              </a:rPr>
              <a:t> its primary objective of offering an affordable, accessible tool for understanding attacker </a:t>
            </a:r>
            <a:r>
              <a:rPr lang="en-IN" sz="1800" dirty="0" err="1">
                <a:effectLst/>
                <a:latin typeface="+mj-lt"/>
                <a:ea typeface="Calibri" panose="020F0502020204030204" pitchFamily="34" charset="0"/>
                <a:cs typeface="Arial" panose="020B0604020202020204" pitchFamily="34" charset="0"/>
              </a:rPr>
              <a:t>behavior</a:t>
            </a:r>
            <a:r>
              <a:rPr lang="en-IN" sz="1800" dirty="0">
                <a:effectLst/>
                <a:latin typeface="+mj-lt"/>
                <a:ea typeface="Calibri" panose="020F0502020204030204" pitchFamily="34" charset="0"/>
                <a:cs typeface="Arial" panose="020B0604020202020204" pitchFamily="34" charset="0"/>
              </a:rPr>
              <a:t>.</a:t>
            </a:r>
          </a:p>
          <a:p>
            <a:pPr marL="285750" indent="-285750" algn="just">
              <a:buFont typeface="Arial" panose="020B0604020202020204" pitchFamily="34" charset="0"/>
              <a:buChar char="•"/>
            </a:pPr>
            <a:endParaRPr lang="en-IN" dirty="0">
              <a:latin typeface="+mj-lt"/>
              <a:ea typeface="Calibri" panose="020F0502020204030204" pitchFamily="34" charset="0"/>
              <a:cs typeface="Arial" panose="020B0604020202020204" pitchFamily="34" charset="0"/>
            </a:endParaRPr>
          </a:p>
          <a:p>
            <a:pPr marL="285750" indent="-285750" algn="just">
              <a:buFont typeface="Arial" panose="020B0604020202020204" pitchFamily="34" charset="0"/>
              <a:buChar char="•"/>
            </a:pPr>
            <a:r>
              <a:rPr lang="en-IN" sz="1800" dirty="0">
                <a:effectLst/>
                <a:latin typeface="+mj-lt"/>
                <a:ea typeface="Calibri" panose="020F0502020204030204" pitchFamily="34" charset="0"/>
                <a:cs typeface="Times New Roman" panose="02020603050405020304" pitchFamily="18" charset="0"/>
              </a:rPr>
              <a:t>Looking forward, the honeypot system offers substantial potential for expansion and real world impact. Its modular architecture supports the addition of new deception layers, such as FTP or Telnet honeypots and enhanced analytics, like machine learning based attack pattern detection. With further optimization and broader testing, it could scale to serve enterprise environments or contribute to open source cybersecurity research. Ultimately, this project not only achieves its goal of providing a practical, low cost tool for threat intelligence but also lays a foundation for future innovations, empowering users to stay ahead of evolving cyber threats with minimal resources.</a:t>
            </a:r>
          </a:p>
          <a:p>
            <a:pPr algn="just"/>
            <a:endParaRPr lang="en-IN" sz="1800" dirty="0">
              <a:effectLst/>
              <a:latin typeface="+mj-lt"/>
              <a:ea typeface="Calibri" panose="020F050202020403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28945429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93448-1059-2EBB-AF03-B0C20524F703}"/>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8DB1188D-E5CA-0957-5164-9CCFCA81DFA2}"/>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0C3996F3-8506-CD90-A80E-3995D1649643}"/>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CE300C0A-0AFC-7ACC-291F-61B0C0921BFB}"/>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FC8522ED-5624-051D-D210-D2A81B64C525}"/>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19325C3B-F1CD-8D9F-F117-19FE243CE02D}"/>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22A357E8-3C64-45CC-E58B-4250887C3F04}"/>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64BE347C-4655-CD78-AAE0-2C39ADEA0CAA}"/>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30</a:t>
            </a:fld>
            <a:endParaRPr lang="en-IN" sz="1400" b="1" dirty="0">
              <a:solidFill>
                <a:schemeClr val="tx1"/>
              </a:solidFill>
            </a:endParaRPr>
          </a:p>
        </p:txBody>
      </p:sp>
      <p:sp>
        <p:nvSpPr>
          <p:cNvPr id="5" name="Rectangle 4">
            <a:extLst>
              <a:ext uri="{FF2B5EF4-FFF2-40B4-BE49-F238E27FC236}">
                <a16:creationId xmlns:a16="http://schemas.microsoft.com/office/drawing/2014/main" id="{3E2F8403-B207-4279-12D8-64B67C5D6B04}"/>
              </a:ext>
            </a:extLst>
          </p:cNvPr>
          <p:cNvSpPr/>
          <p:nvPr/>
        </p:nvSpPr>
        <p:spPr>
          <a:xfrm>
            <a:off x="74391" y="201406"/>
            <a:ext cx="2419830" cy="523220"/>
          </a:xfrm>
          <a:prstGeom prst="rect">
            <a:avLst/>
          </a:prstGeom>
        </p:spPr>
        <p:txBody>
          <a:bodyPr wrap="none">
            <a:spAutoFit/>
          </a:bodyPr>
          <a:lstStyle/>
          <a:p>
            <a:r>
              <a:rPr lang="en-IN" sz="2800" b="1" dirty="0">
                <a:solidFill>
                  <a:srgbClr val="17375E"/>
                </a:solidFill>
                <a:cs typeface="Arial" panose="020B0604020202020204" pitchFamily="34" charset="0"/>
              </a:rPr>
              <a:t>FUTURE SCOPE</a:t>
            </a:r>
            <a:endParaRPr lang="en-IN" sz="2800" dirty="0"/>
          </a:p>
        </p:txBody>
      </p:sp>
      <p:sp>
        <p:nvSpPr>
          <p:cNvPr id="6" name="TextBox 5">
            <a:extLst>
              <a:ext uri="{FF2B5EF4-FFF2-40B4-BE49-F238E27FC236}">
                <a16:creationId xmlns:a16="http://schemas.microsoft.com/office/drawing/2014/main" id="{A27CDF89-40A3-C95F-7933-A3E350C18C1E}"/>
              </a:ext>
            </a:extLst>
          </p:cNvPr>
          <p:cNvSpPr txBox="1"/>
          <p:nvPr/>
        </p:nvSpPr>
        <p:spPr>
          <a:xfrm>
            <a:off x="170688" y="1231392"/>
            <a:ext cx="8827008" cy="4503797"/>
          </a:xfrm>
          <a:prstGeom prst="rect">
            <a:avLst/>
          </a:prstGeom>
          <a:noFill/>
        </p:spPr>
        <p:txBody>
          <a:bodyPr wrap="square" rtlCol="0">
            <a:spAutoFit/>
          </a:bodyPr>
          <a:lstStyle/>
          <a:p>
            <a:pPr marL="285750" indent="-285750" algn="just">
              <a:spcAft>
                <a:spcPts val="1000"/>
              </a:spcAft>
              <a:buFont typeface="Arial" panose="020B0604020202020204" pitchFamily="34" charset="0"/>
              <a:buChar char="•"/>
            </a:pPr>
            <a:r>
              <a:rPr lang="en-IN" sz="1800" dirty="0">
                <a:effectLst/>
                <a:latin typeface="+mj-lt"/>
                <a:ea typeface="Calibri" panose="020F0502020204030204" pitchFamily="34" charset="0"/>
                <a:cs typeface="Times New Roman" panose="02020603050405020304" pitchFamily="18" charset="0"/>
              </a:rPr>
              <a:t>The honeypot project, while effective in its current form, can be significantly enhanced by expanding its deception capabilities to cover a wider range of services beyond SSH and HTTP. Future iterations could incorporate additional protocols such as FTP, Telnet, or SMTP, each designed to mimic vulnerable servers commonly targeted by attackers. For instance, adding an FTP honeypot could involve integrating a library like </a:t>
            </a:r>
            <a:r>
              <a:rPr lang="en-IN" sz="1800" dirty="0" err="1">
                <a:effectLst/>
                <a:latin typeface="+mj-lt"/>
                <a:ea typeface="Calibri" panose="020F0502020204030204" pitchFamily="34" charset="0"/>
                <a:cs typeface="Times New Roman" panose="02020603050405020304" pitchFamily="18" charset="0"/>
              </a:rPr>
              <a:t>pyftpdlib</a:t>
            </a:r>
            <a:r>
              <a:rPr lang="en-IN" sz="1800" dirty="0">
                <a:effectLst/>
                <a:latin typeface="+mj-lt"/>
                <a:ea typeface="Calibri" panose="020F0502020204030204" pitchFamily="34" charset="0"/>
                <a:cs typeface="Times New Roman" panose="02020603050405020304" pitchFamily="18" charset="0"/>
              </a:rPr>
              <a:t> to simulate file transfer services, capturing credentials and file upload attempts. This expansion would broaden the system’s appeal as a comprehensive threat intelligence tool, attracting diverse attack vectors and providing richer data for analysis, all while maintaining the modular structure already established.</a:t>
            </a:r>
          </a:p>
          <a:p>
            <a:pPr marL="285750" indent="-285750" algn="just">
              <a:spcAft>
                <a:spcPts val="1000"/>
              </a:spcAft>
              <a:buFont typeface="Arial" panose="020B0604020202020204" pitchFamily="34" charset="0"/>
              <a:buChar char="•"/>
            </a:pPr>
            <a:r>
              <a:rPr lang="en-IN" sz="1800" dirty="0">
                <a:effectLst/>
                <a:latin typeface="+mj-lt"/>
                <a:ea typeface="Calibri" panose="020F0502020204030204" pitchFamily="34" charset="0"/>
                <a:cs typeface="Times New Roman" panose="02020603050405020304" pitchFamily="18" charset="0"/>
              </a:rPr>
              <a:t>Finally, the project could evolve into a collaborative, open source platform with broader community impact. By refining documentation and hosting the codebase on a platform like GitHub, it could invite contributions from developers to add features, fix bugs, or tailor it for specific use cases, such as educational labs or IoT security research. </a:t>
            </a:r>
          </a:p>
          <a:p>
            <a:pPr algn="just"/>
            <a:endParaRPr lang="en-IN" sz="1800" dirty="0">
              <a:effectLst/>
              <a:latin typeface="+mj-lt"/>
              <a:ea typeface="Calibri" panose="020F050202020403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3573459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5A58-5E1D-A8B9-419A-1B03C92CDE41}"/>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7EEC3C12-CD3F-29AF-6C33-2CD16AC43C1A}"/>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1497D4AB-5B2E-BE27-BCB1-AA517BEC3E80}"/>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BBFDD392-C3FA-8DE0-BFC4-753CC0B76F00}"/>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B62ACD3D-EC09-EE0E-8EE4-778E2C02E1B2}"/>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6F5BD0B7-349B-1203-98E4-55C5ED16D409}"/>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8ECFC77A-BB3C-5CB4-BBD3-93642454B284}"/>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85C8CDF8-5019-4D5C-60B2-E9DD75E98977}"/>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31</a:t>
            </a:fld>
            <a:endParaRPr lang="en-IN" sz="1400" b="1" dirty="0">
              <a:solidFill>
                <a:schemeClr val="tx1"/>
              </a:solidFill>
            </a:endParaRPr>
          </a:p>
        </p:txBody>
      </p:sp>
      <p:sp>
        <p:nvSpPr>
          <p:cNvPr id="5" name="Rectangle 4">
            <a:extLst>
              <a:ext uri="{FF2B5EF4-FFF2-40B4-BE49-F238E27FC236}">
                <a16:creationId xmlns:a16="http://schemas.microsoft.com/office/drawing/2014/main" id="{0B7D0D9A-EC38-B07D-4BBE-8AD1A1AB9BE0}"/>
              </a:ext>
            </a:extLst>
          </p:cNvPr>
          <p:cNvSpPr/>
          <p:nvPr/>
        </p:nvSpPr>
        <p:spPr>
          <a:xfrm>
            <a:off x="0" y="254238"/>
            <a:ext cx="2128788" cy="523220"/>
          </a:xfrm>
          <a:prstGeom prst="rect">
            <a:avLst/>
          </a:prstGeom>
        </p:spPr>
        <p:txBody>
          <a:bodyPr wrap="none">
            <a:spAutoFit/>
          </a:bodyPr>
          <a:lstStyle/>
          <a:p>
            <a:r>
              <a:rPr lang="en-US" sz="2800" b="1" dirty="0">
                <a:solidFill>
                  <a:srgbClr val="C00000"/>
                </a:solidFill>
                <a:cs typeface="Arial" panose="020B0604020202020204" pitchFamily="34" charset="0"/>
              </a:rPr>
              <a:t>REFERENCES </a:t>
            </a:r>
            <a:endParaRPr lang="en-IN" sz="2800" dirty="0"/>
          </a:p>
        </p:txBody>
      </p:sp>
      <p:sp>
        <p:nvSpPr>
          <p:cNvPr id="10" name="TextBox 9">
            <a:extLst>
              <a:ext uri="{FF2B5EF4-FFF2-40B4-BE49-F238E27FC236}">
                <a16:creationId xmlns:a16="http://schemas.microsoft.com/office/drawing/2014/main" id="{E6F92AB4-E402-284C-CB07-88C9EDA058A7}"/>
              </a:ext>
            </a:extLst>
          </p:cNvPr>
          <p:cNvSpPr txBox="1"/>
          <p:nvPr/>
        </p:nvSpPr>
        <p:spPr>
          <a:xfrm>
            <a:off x="-32" y="814351"/>
            <a:ext cx="9144000" cy="6702091"/>
          </a:xfrm>
          <a:prstGeom prst="rect">
            <a:avLst/>
          </a:prstGeom>
          <a:noFill/>
        </p:spPr>
        <p:txBody>
          <a:bodyPr wrap="square">
            <a:spAutoFit/>
          </a:bodyPr>
          <a:lstStyle/>
          <a:p>
            <a:pPr algn="just">
              <a:lnSpc>
                <a:spcPct val="150000"/>
              </a:lnSpc>
              <a:spcBef>
                <a:spcPts val="1200"/>
              </a:spcBef>
              <a:spcAft>
                <a:spcPts val="1200"/>
              </a:spcAft>
            </a:pPr>
            <a:r>
              <a:rPr lang="en-US" sz="1600" dirty="0"/>
              <a:t>[1] </a:t>
            </a:r>
            <a:r>
              <a:rPr lang="en-IN" sz="1600" dirty="0"/>
              <a:t>Priya, V. D., &amp; </a:t>
            </a:r>
            <a:r>
              <a:rPr lang="en-IN" sz="1600" dirty="0" err="1"/>
              <a:t>Chakkaravarthy</a:t>
            </a:r>
            <a:r>
              <a:rPr lang="en-IN" sz="1600" dirty="0"/>
              <a:t>, S. S. (2023). Containerized cloud-based honeypot deception for tracking attackers. Scientific Reports, 13(1), 1437. </a:t>
            </a:r>
          </a:p>
          <a:p>
            <a:pPr algn="just">
              <a:lnSpc>
                <a:spcPct val="150000"/>
              </a:lnSpc>
              <a:spcBef>
                <a:spcPts val="1200"/>
              </a:spcBef>
              <a:spcAft>
                <a:spcPts val="1200"/>
              </a:spcAft>
            </a:pPr>
            <a:r>
              <a:rPr lang="en-IN" sz="1600" dirty="0"/>
              <a:t>[2] Hussein, M. A. (2023). A Proposed Multi-Layer Firewall to Improve the Security of Software Defined Networks. International Journal of Interactive Mobile Technologies, 17(2). </a:t>
            </a:r>
          </a:p>
          <a:p>
            <a:pPr algn="just">
              <a:lnSpc>
                <a:spcPct val="150000"/>
              </a:lnSpc>
              <a:spcBef>
                <a:spcPts val="1200"/>
              </a:spcBef>
              <a:spcAft>
                <a:spcPts val="1200"/>
              </a:spcAft>
            </a:pPr>
            <a:r>
              <a:rPr lang="en-IN" sz="1600" dirty="0"/>
              <a:t>[3] Jadhav, Y. C., Sable, A., Suresh, M., &amp; </a:t>
            </a:r>
            <a:r>
              <a:rPr lang="en-IN" sz="1600" dirty="0" err="1"/>
              <a:t>Hanawal</a:t>
            </a:r>
            <a:r>
              <a:rPr lang="en-IN" sz="1600" dirty="0"/>
              <a:t>, M. K. International Journal of Computer Applications Securing Containers: Honeypots for Analysing Container Attacks. (2023) International Conference on Communication Systems &amp; </a:t>
            </a:r>
            <a:r>
              <a:rPr lang="en-IN" sz="1600" dirty="0" err="1"/>
              <a:t>NetworkS</a:t>
            </a:r>
            <a:r>
              <a:rPr lang="en-IN" sz="1600" dirty="0"/>
              <a:t> (COMSNETS) (pp. 225-227). IEEE. </a:t>
            </a:r>
          </a:p>
          <a:p>
            <a:pPr algn="just">
              <a:lnSpc>
                <a:spcPct val="150000"/>
              </a:lnSpc>
              <a:spcBef>
                <a:spcPts val="1200"/>
              </a:spcBef>
              <a:spcAft>
                <a:spcPts val="1200"/>
              </a:spcAft>
            </a:pPr>
            <a:r>
              <a:rPr lang="en-IN" sz="1600" dirty="0"/>
              <a:t>[4] Amal, M. R., &amp; </a:t>
            </a:r>
            <a:r>
              <a:rPr lang="en-IN" sz="1600" dirty="0" err="1"/>
              <a:t>Venkadesh</a:t>
            </a:r>
            <a:r>
              <a:rPr lang="en-IN" sz="1600" dirty="0"/>
              <a:t>, P. (2022). Review of cyber attack detection: Honeypot system. </a:t>
            </a:r>
            <a:r>
              <a:rPr lang="en-IN" sz="1600" dirty="0" err="1"/>
              <a:t>Webology</a:t>
            </a:r>
            <a:r>
              <a:rPr lang="en-IN" sz="1600" dirty="0"/>
              <a:t>, 19(1), 5497-5514. </a:t>
            </a:r>
          </a:p>
          <a:p>
            <a:pPr algn="just">
              <a:lnSpc>
                <a:spcPct val="150000"/>
              </a:lnSpc>
              <a:spcBef>
                <a:spcPts val="1200"/>
              </a:spcBef>
              <a:spcAft>
                <a:spcPts val="1200"/>
              </a:spcAft>
            </a:pPr>
            <a:r>
              <a:rPr lang="en-US" sz="1600" dirty="0">
                <a:cs typeface="Arial" panose="020B0604020202020204" pitchFamily="34" charset="0"/>
              </a:rPr>
              <a:t> </a:t>
            </a:r>
            <a:r>
              <a:rPr lang="en-GB" sz="1600" dirty="0">
                <a:cs typeface="Arial" panose="020B0604020202020204" pitchFamily="34" charset="0"/>
              </a:rPr>
              <a:t>[5] </a:t>
            </a:r>
            <a:r>
              <a:rPr lang="en-GB" sz="1600" dirty="0" err="1">
                <a:cs typeface="Arial" panose="020B0604020202020204" pitchFamily="34" charset="0"/>
              </a:rPr>
              <a:t>AlZoubi</a:t>
            </a:r>
            <a:r>
              <a:rPr lang="en-GB" sz="1600" dirty="0">
                <a:cs typeface="Arial" panose="020B0604020202020204" pitchFamily="34" charset="0"/>
              </a:rPr>
              <a:t>, W., &amp; </a:t>
            </a:r>
            <a:r>
              <a:rPr lang="en-GB" sz="1600" dirty="0" err="1">
                <a:cs typeface="Arial" panose="020B0604020202020204" pitchFamily="34" charset="0"/>
              </a:rPr>
              <a:t>Alrashdan</a:t>
            </a:r>
            <a:r>
              <a:rPr lang="en-GB" sz="1600" dirty="0">
                <a:cs typeface="Arial" panose="020B0604020202020204" pitchFamily="34" charset="0"/>
              </a:rPr>
              <a:t>, M. (2022). The effect of using honeypot network on system security. International Journal of Data and Network Science, 6(4), 1413-1418</a:t>
            </a:r>
            <a:endParaRPr lang="en-US" sz="1600" dirty="0">
              <a:cs typeface="Arial" panose="020B0604020202020204" pitchFamily="34" charset="0"/>
            </a:endParaRPr>
          </a:p>
          <a:p>
            <a:pPr marL="285750" indent="-285750" algn="just">
              <a:lnSpc>
                <a:spcPct val="150000"/>
              </a:lnSpc>
              <a:spcBef>
                <a:spcPts val="1200"/>
              </a:spcBef>
              <a:spcAft>
                <a:spcPts val="1200"/>
              </a:spcAft>
              <a:buFont typeface="Wingdings" panose="05000000000000000000" pitchFamily="2" charset="2"/>
              <a:buChar char="Ø"/>
            </a:pPr>
            <a:endParaRPr lang="en-US" sz="1600" dirty="0">
              <a:cs typeface="Arial" panose="020B0604020202020204" pitchFamily="34" charset="0"/>
            </a:endParaRPr>
          </a:p>
          <a:p>
            <a:pPr marL="285750" indent="-285750" algn="just">
              <a:lnSpc>
                <a:spcPct val="150000"/>
              </a:lnSpc>
              <a:spcBef>
                <a:spcPts val="1200"/>
              </a:spcBef>
              <a:spcAft>
                <a:spcPts val="1200"/>
              </a:spcAft>
              <a:buFont typeface="Wingdings" panose="05000000000000000000" pitchFamily="2" charset="2"/>
              <a:buChar char="Ø"/>
            </a:pPr>
            <a:endParaRPr lang="en-US" sz="1600" dirty="0">
              <a:cs typeface="Arial" panose="020B0604020202020204" pitchFamily="34" charset="0"/>
            </a:endParaRPr>
          </a:p>
        </p:txBody>
      </p:sp>
    </p:spTree>
    <p:extLst>
      <p:ext uri="{BB962C8B-B14F-4D97-AF65-F5344CB8AC3E}">
        <p14:creationId xmlns:p14="http://schemas.microsoft.com/office/powerpoint/2010/main" val="3525234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B233D-A665-B0DD-B08A-9995D6FD00E8}"/>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85DC4AAC-6A0F-21FF-F838-67EB82B8B7ED}"/>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4ADB7594-D732-72B4-23E9-33337200DFB9}"/>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317E7541-0C2A-A7E9-C066-DB546B4E1717}"/>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4206AA6E-40B8-225A-8233-A36E41EF72EE}"/>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627109B0-C482-312B-BDCC-D6FF41D5BF75}"/>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0B7E649B-B8D8-1694-D0AC-CE3508E1D2A4}"/>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4BB0F706-2D43-83B2-C884-F130EAE63B64}"/>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32</a:t>
            </a:fld>
            <a:endParaRPr lang="en-IN" sz="1400" b="1" dirty="0">
              <a:solidFill>
                <a:schemeClr val="tx1"/>
              </a:solidFill>
            </a:endParaRPr>
          </a:p>
        </p:txBody>
      </p:sp>
      <p:sp>
        <p:nvSpPr>
          <p:cNvPr id="5" name="Rectangle 4">
            <a:extLst>
              <a:ext uri="{FF2B5EF4-FFF2-40B4-BE49-F238E27FC236}">
                <a16:creationId xmlns:a16="http://schemas.microsoft.com/office/drawing/2014/main" id="{13E236A7-5CAE-D164-5947-D6403A3D8333}"/>
              </a:ext>
            </a:extLst>
          </p:cNvPr>
          <p:cNvSpPr/>
          <p:nvPr/>
        </p:nvSpPr>
        <p:spPr>
          <a:xfrm>
            <a:off x="179512" y="84339"/>
            <a:ext cx="4773807" cy="523220"/>
          </a:xfrm>
          <a:prstGeom prst="rect">
            <a:avLst/>
          </a:prstGeom>
        </p:spPr>
        <p:txBody>
          <a:bodyPr wrap="none">
            <a:spAutoFit/>
          </a:bodyPr>
          <a:lstStyle/>
          <a:p>
            <a:r>
              <a:rPr lang="en-IN" sz="2800" b="1" dirty="0">
                <a:solidFill>
                  <a:srgbClr val="17375E"/>
                </a:solidFill>
                <a:cs typeface="Arial" panose="020B0604020202020204" pitchFamily="34" charset="0"/>
              </a:rPr>
              <a:t>INTERNATIONAL CONFERENCE </a:t>
            </a:r>
            <a:endParaRPr lang="en-IN" sz="2800" dirty="0"/>
          </a:p>
        </p:txBody>
      </p:sp>
      <p:sp>
        <p:nvSpPr>
          <p:cNvPr id="14" name="TextBox 13">
            <a:extLst>
              <a:ext uri="{FF2B5EF4-FFF2-40B4-BE49-F238E27FC236}">
                <a16:creationId xmlns:a16="http://schemas.microsoft.com/office/drawing/2014/main" id="{15824DD7-0C62-6DA1-D3B6-B9D3066384A6}"/>
              </a:ext>
            </a:extLst>
          </p:cNvPr>
          <p:cNvSpPr txBox="1"/>
          <p:nvPr/>
        </p:nvSpPr>
        <p:spPr>
          <a:xfrm>
            <a:off x="863588" y="964404"/>
            <a:ext cx="7416824" cy="1015663"/>
          </a:xfrm>
          <a:prstGeom prst="rect">
            <a:avLst/>
          </a:prstGeom>
          <a:noFill/>
        </p:spPr>
        <p:txBody>
          <a:bodyPr wrap="square" rtlCol="0">
            <a:spAutoFit/>
          </a:bodyPr>
          <a:lstStyle/>
          <a:p>
            <a:pPr algn="just"/>
            <a:r>
              <a:rPr lang="en-US" sz="2000" b="1" dirty="0"/>
              <a:t>Presented My Paper at </a:t>
            </a:r>
            <a:r>
              <a:rPr lang="en-IN" sz="2000" b="1" dirty="0"/>
              <a:t>International Conference on Contemporary Trends in Advanced Computing Technologies (ICCTACT) at New Prince Shri Bhavani Arts and Science College.</a:t>
            </a:r>
          </a:p>
        </p:txBody>
      </p:sp>
      <p:pic>
        <p:nvPicPr>
          <p:cNvPr id="11" name="Picture 10" descr="A certificate of a college&#10;&#10;Description automatically generated with medium confidence">
            <a:extLst>
              <a:ext uri="{FF2B5EF4-FFF2-40B4-BE49-F238E27FC236}">
                <a16:creationId xmlns:a16="http://schemas.microsoft.com/office/drawing/2014/main" id="{4095DE32-A87B-55D8-DFC7-05E6892FC76A}"/>
              </a:ext>
            </a:extLst>
          </p:cNvPr>
          <p:cNvPicPr>
            <a:picLocks noChangeAspect="1"/>
          </p:cNvPicPr>
          <p:nvPr/>
        </p:nvPicPr>
        <p:blipFill>
          <a:blip r:embed="rId3"/>
          <a:stretch>
            <a:fillRect/>
          </a:stretch>
        </p:blipFill>
        <p:spPr>
          <a:xfrm rot="16200000">
            <a:off x="2541030" y="1099750"/>
            <a:ext cx="4061940" cy="5822575"/>
          </a:xfrm>
          <a:prstGeom prst="rect">
            <a:avLst/>
          </a:prstGeom>
        </p:spPr>
      </p:pic>
    </p:spTree>
    <p:extLst>
      <p:ext uri="{BB962C8B-B14F-4D97-AF65-F5344CB8AC3E}">
        <p14:creationId xmlns:p14="http://schemas.microsoft.com/office/powerpoint/2010/main" val="442162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A6DD2-B54B-CBA0-874F-94A9FD95CB1D}"/>
            </a:ext>
          </a:extLst>
        </p:cNvPr>
        <p:cNvGrpSpPr/>
        <p:nvPr/>
      </p:nvGrpSpPr>
      <p:grpSpPr>
        <a:xfrm>
          <a:off x="0" y="0"/>
          <a:ext cx="0" cy="0"/>
          <a:chOff x="0" y="0"/>
          <a:chExt cx="0" cy="0"/>
        </a:xfrm>
      </p:grpSpPr>
      <p:pic>
        <p:nvPicPr>
          <p:cNvPr id="2" name="Picture 4" descr="Logo">
            <a:extLst>
              <a:ext uri="{FF2B5EF4-FFF2-40B4-BE49-F238E27FC236}">
                <a16:creationId xmlns:a16="http://schemas.microsoft.com/office/drawing/2014/main" id="{6A5E0770-06AB-50A2-AB40-0DD9B3C42546}"/>
              </a:ext>
            </a:extLst>
          </p:cNvPr>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a:extLst>
              <a:ext uri="{FF2B5EF4-FFF2-40B4-BE49-F238E27FC236}">
                <a16:creationId xmlns:a16="http://schemas.microsoft.com/office/drawing/2014/main" id="{300F0DD2-DF7B-03A4-19BD-DCCEFA289B34}"/>
              </a:ext>
            </a:extLst>
          </p:cNvPr>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a:extLst>
              <a:ext uri="{FF2B5EF4-FFF2-40B4-BE49-F238E27FC236}">
                <a16:creationId xmlns:a16="http://schemas.microsoft.com/office/drawing/2014/main" id="{2A87F0FB-E142-5648-71B0-F5084ABC0964}"/>
              </a:ext>
            </a:extLst>
          </p:cNvPr>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a:extLst>
              <a:ext uri="{FF2B5EF4-FFF2-40B4-BE49-F238E27FC236}">
                <a16:creationId xmlns:a16="http://schemas.microsoft.com/office/drawing/2014/main" id="{E8001A79-24B5-1F37-1166-7F4153E7B48B}"/>
              </a:ext>
            </a:extLst>
          </p:cNvPr>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11112C43-A0E7-EF41-7304-C9AE78AA42E5}"/>
              </a:ext>
            </a:extLst>
          </p:cNvPr>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a:extLst>
              <a:ext uri="{FF2B5EF4-FFF2-40B4-BE49-F238E27FC236}">
                <a16:creationId xmlns:a16="http://schemas.microsoft.com/office/drawing/2014/main" id="{D2701DEF-5603-5CEB-46B3-38B1A403D121}"/>
              </a:ext>
            </a:extLst>
          </p:cNvPr>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214F4CFA-CA89-10A7-0C58-F9E275FD9413}"/>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33</a:t>
            </a:fld>
            <a:endParaRPr lang="en-IN" sz="1400" b="1" dirty="0">
              <a:solidFill>
                <a:schemeClr val="tx1"/>
              </a:solidFill>
            </a:endParaRPr>
          </a:p>
        </p:txBody>
      </p:sp>
      <p:sp>
        <p:nvSpPr>
          <p:cNvPr id="5" name="Rectangle 4">
            <a:extLst>
              <a:ext uri="{FF2B5EF4-FFF2-40B4-BE49-F238E27FC236}">
                <a16:creationId xmlns:a16="http://schemas.microsoft.com/office/drawing/2014/main" id="{AFA90D74-B8CB-F7D4-5A67-A566E865D65B}"/>
              </a:ext>
            </a:extLst>
          </p:cNvPr>
          <p:cNvSpPr/>
          <p:nvPr/>
        </p:nvSpPr>
        <p:spPr>
          <a:xfrm>
            <a:off x="-32" y="191136"/>
            <a:ext cx="2418098" cy="523220"/>
          </a:xfrm>
          <a:prstGeom prst="rect">
            <a:avLst/>
          </a:prstGeom>
        </p:spPr>
        <p:txBody>
          <a:bodyPr wrap="none">
            <a:spAutoFit/>
          </a:bodyPr>
          <a:lstStyle/>
          <a:p>
            <a:r>
              <a:rPr lang="en-US" sz="2800" b="1" dirty="0">
                <a:solidFill>
                  <a:srgbClr val="C00000"/>
                </a:solidFill>
                <a:cs typeface="Arial" panose="020B0604020202020204" pitchFamily="34" charset="0"/>
              </a:rPr>
              <a:t>CERTIFICATION</a:t>
            </a:r>
            <a:endParaRPr lang="en-IN" sz="2800" dirty="0">
              <a:solidFill>
                <a:srgbClr val="C00000"/>
              </a:solidFill>
            </a:endParaRPr>
          </a:p>
        </p:txBody>
      </p:sp>
      <p:sp>
        <p:nvSpPr>
          <p:cNvPr id="6" name="TextBox 5">
            <a:extLst>
              <a:ext uri="{FF2B5EF4-FFF2-40B4-BE49-F238E27FC236}">
                <a16:creationId xmlns:a16="http://schemas.microsoft.com/office/drawing/2014/main" id="{91612A00-AF9E-C667-B2D2-03268713DF69}"/>
              </a:ext>
            </a:extLst>
          </p:cNvPr>
          <p:cNvSpPr txBox="1"/>
          <p:nvPr/>
        </p:nvSpPr>
        <p:spPr>
          <a:xfrm>
            <a:off x="225083" y="1209822"/>
            <a:ext cx="8651631" cy="1754326"/>
          </a:xfrm>
          <a:prstGeom prst="rect">
            <a:avLst/>
          </a:prstGeom>
          <a:noFill/>
        </p:spPr>
        <p:txBody>
          <a:bodyPr wrap="square" rtlCol="0">
            <a:spAutoFit/>
          </a:bodyPr>
          <a:lstStyle/>
          <a:p>
            <a:pPr marL="285750" indent="-285750" algn="just">
              <a:lnSpc>
                <a:spcPct val="250000"/>
              </a:lnSpc>
              <a:buFont typeface="Wingdings" panose="05000000000000000000" pitchFamily="2" charset="2"/>
              <a:buChar char="ü"/>
            </a:pPr>
            <a:r>
              <a:rPr lang="en-IN" dirty="0"/>
              <a:t>CYBERSECURITY FUNDAMENTALS (NEW DESIGN) - IBM SKILLSBULID</a:t>
            </a:r>
          </a:p>
          <a:p>
            <a:pPr marL="285750" indent="-285750" algn="just">
              <a:lnSpc>
                <a:spcPct val="250000"/>
              </a:lnSpc>
              <a:buFont typeface="Wingdings" panose="05000000000000000000" pitchFamily="2" charset="2"/>
              <a:buChar char="ü"/>
            </a:pPr>
            <a:r>
              <a:rPr lang="en-IN" dirty="0"/>
              <a:t>CYBERSECURITY (SHORT COURSES) – OHSC</a:t>
            </a:r>
          </a:p>
          <a:p>
            <a:endParaRPr lang="en-IN" dirty="0"/>
          </a:p>
        </p:txBody>
      </p:sp>
      <p:pic>
        <p:nvPicPr>
          <p:cNvPr id="11" name="Picture 10" descr="A certificate of security fundamentals&#10;&#10;Description automatically generated">
            <a:extLst>
              <a:ext uri="{FF2B5EF4-FFF2-40B4-BE49-F238E27FC236}">
                <a16:creationId xmlns:a16="http://schemas.microsoft.com/office/drawing/2014/main" id="{4629C79B-BF64-D6D1-20C3-3B76A1D19197}"/>
              </a:ext>
            </a:extLst>
          </p:cNvPr>
          <p:cNvPicPr>
            <a:picLocks noChangeAspect="1"/>
          </p:cNvPicPr>
          <p:nvPr/>
        </p:nvPicPr>
        <p:blipFill>
          <a:blip r:embed="rId3"/>
          <a:stretch>
            <a:fillRect/>
          </a:stretch>
        </p:blipFill>
        <p:spPr>
          <a:xfrm>
            <a:off x="470201" y="2703913"/>
            <a:ext cx="4787615" cy="2970524"/>
          </a:xfrm>
          <a:prstGeom prst="rect">
            <a:avLst/>
          </a:prstGeom>
        </p:spPr>
      </p:pic>
    </p:spTree>
    <p:extLst>
      <p:ext uri="{BB962C8B-B14F-4D97-AF65-F5344CB8AC3E}">
        <p14:creationId xmlns:p14="http://schemas.microsoft.com/office/powerpoint/2010/main" val="995320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Logo"/>
          <p:cNvPicPr>
            <a:picLocks noChangeAspect="1" noChangeArrowheads="1"/>
          </p:cNvPicPr>
          <p:nvPr/>
        </p:nvPicPr>
        <p:blipFill>
          <a:blip r:embed="rId2"/>
          <a:srcRect/>
          <a:stretch>
            <a:fillRect/>
          </a:stretch>
        </p:blipFill>
        <p:spPr bwMode="auto">
          <a:xfrm>
            <a:off x="6858016" y="0"/>
            <a:ext cx="2285984" cy="685799"/>
          </a:xfrm>
          <a:prstGeom prst="rect">
            <a:avLst/>
          </a:prstGeom>
          <a:noFill/>
          <a:ln w="9525">
            <a:noFill/>
            <a:miter lim="800000"/>
            <a:headEnd/>
            <a:tailEnd/>
          </a:ln>
        </p:spPr>
      </p:pic>
      <p:sp>
        <p:nvSpPr>
          <p:cNvPr id="3" name="Rectangle 2"/>
          <p:cNvSpPr/>
          <p:nvPr/>
        </p:nvSpPr>
        <p:spPr>
          <a:xfrm>
            <a:off x="-32" y="71755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4" name="Rectangle 3"/>
          <p:cNvSpPr/>
          <p:nvPr/>
        </p:nvSpPr>
        <p:spPr>
          <a:xfrm>
            <a:off x="6829464" y="714356"/>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7" name="Rectangle 6"/>
          <p:cNvSpPr/>
          <p:nvPr/>
        </p:nvSpPr>
        <p:spPr>
          <a:xfrm>
            <a:off x="3000332" y="6286520"/>
            <a:ext cx="6143668" cy="6824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p:cNvSpPr/>
          <p:nvPr/>
        </p:nvSpPr>
        <p:spPr>
          <a:xfrm>
            <a:off x="0" y="6280398"/>
            <a:ext cx="2314568" cy="714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TextBox 8"/>
          <p:cNvSpPr txBox="1"/>
          <p:nvPr/>
        </p:nvSpPr>
        <p:spPr>
          <a:xfrm>
            <a:off x="0" y="6367529"/>
            <a:ext cx="4419095" cy="369332"/>
          </a:xfrm>
          <a:prstGeom prst="rect">
            <a:avLst/>
          </a:prstGeom>
          <a:noFill/>
        </p:spPr>
        <p:txBody>
          <a:bodyPr wrap="none" rtlCol="0">
            <a:spAutoFit/>
          </a:bodyPr>
          <a:lstStyle/>
          <a:p>
            <a:r>
              <a:rPr lang="en-IN" b="1" dirty="0"/>
              <a:t>DEPARTMENT OF COMPUTER APPLICATIONS</a:t>
            </a:r>
          </a:p>
        </p:txBody>
      </p:sp>
      <p:sp>
        <p:nvSpPr>
          <p:cNvPr id="12" name="Slide Number Placeholder 2">
            <a:extLst>
              <a:ext uri="{FF2B5EF4-FFF2-40B4-BE49-F238E27FC236}">
                <a16:creationId xmlns:a16="http://schemas.microsoft.com/office/drawing/2014/main" id="{C54C04E4-D790-42A3-8C76-2D46558D9922}"/>
              </a:ext>
            </a:extLst>
          </p:cNvPr>
          <p:cNvSpPr>
            <a:spLocks noGrp="1"/>
          </p:cNvSpPr>
          <p:nvPr>
            <p:ph type="sldNum" sz="quarter" idx="12"/>
          </p:nvPr>
        </p:nvSpPr>
        <p:spPr>
          <a:xfrm>
            <a:off x="7010400" y="6458833"/>
            <a:ext cx="2133600" cy="365125"/>
          </a:xfrm>
        </p:spPr>
        <p:txBody>
          <a:bodyPr/>
          <a:lstStyle/>
          <a:p>
            <a:fld id="{2C3FB9A0-29AF-47DD-9689-6D05F63730EF}" type="slidenum">
              <a:rPr lang="en-IN" sz="1400" b="1" smtClean="0">
                <a:solidFill>
                  <a:schemeClr val="tx1"/>
                </a:solidFill>
              </a:rPr>
              <a:pPr/>
              <a:t>34</a:t>
            </a:fld>
            <a:endParaRPr lang="en-IN" sz="1400" b="1" dirty="0">
              <a:solidFill>
                <a:schemeClr val="tx1"/>
              </a:solidFill>
            </a:endParaRPr>
          </a:p>
        </p:txBody>
      </p:sp>
      <p:pic>
        <p:nvPicPr>
          <p:cNvPr id="19" name="Picture 18">
            <a:extLst>
              <a:ext uri="{FF2B5EF4-FFF2-40B4-BE49-F238E27FC236}">
                <a16:creationId xmlns:a16="http://schemas.microsoft.com/office/drawing/2014/main" id="{FFF9AA1B-EE16-AAB4-A2E2-E407A6E07E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6625" y="1231451"/>
            <a:ext cx="6143669" cy="4095779"/>
          </a:xfrm>
          <a:prstGeom prst="rect">
            <a:avLst/>
          </a:prstGeom>
        </p:spPr>
      </p:pic>
    </p:spTree>
    <p:extLst>
      <p:ext uri="{BB962C8B-B14F-4D97-AF65-F5344CB8AC3E}">
        <p14:creationId xmlns:p14="http://schemas.microsoft.com/office/powerpoint/2010/main" val="2919000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2090</TotalTime>
  <Words>2359</Words>
  <Application>Microsoft Office PowerPoint</Application>
  <PresentationFormat>On-screen Show (4:3)</PresentationFormat>
  <Paragraphs>278</Paragraphs>
  <Slides>34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Naveen Kumar</cp:lastModifiedBy>
  <cp:revision>37</cp:revision>
  <dcterms:modified xsi:type="dcterms:W3CDTF">2025-05-02T15:16:12Z</dcterms:modified>
</cp:coreProperties>
</file>